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seconds. The decision is whether a shared facility meets a demonstrated need at an acceptable cost and risk. Members have expressed interest but signed no long-term commitments. The grid price, upgrade cost and date are unknown. We recommend a phased hybrid option after evidence closes, not approval of the full build today.</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 seconds. Survey member training, teaching and inference needs, required reservation windows, security and existing campus/cloud alternatives. The base model does not demonstrate that 25 MW is needed. Texas leads because demand proximity is 25 percent of the site rubric. City proxies require campus measurements. Geographic alternatives stay open, especially if demand is predominantly batch training.</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Refer to the separate one-page system diagram for power, cooling, networking, storage and failure paths. PUE is a planning assumption. Grid reliability is not workload availability. The largest transformer failure requires demonstrated remaining-path capacity. Confirm UPS autonomy, transfer performance, generator derating, failure/repair rates, common-mode faults and workload recovery. Do not credit renewable contracts as firm backup without hourly evidence.</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All values are planning assumptions, not quotes. The app shows ten annual rows for each option. Baseline electricity is $80/MWh. Owned capacity uses the full power envelope conservatively even at lower productive utilization. The lease price includes power and fleet replacement. Discount rate is 8 percent, member charge $0/productive hour. Build annual cost allocated to unused capacity is $19.4m, already inside total cost and not added again. Debt draws and repayments are separate from project cash flow. Explain the risk that the demand does not materialize.</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 Amounts other than per-hour costs are USD millions. Annual operations are the full-service run rate rather than a delayed first-year amount. Before-opening funding includes construction, the commissioning fleet, delay carry, interest and any lease bridge in the hybrid. Capital at risk measures year-three spent-capital loss after assumed salvage plus delay and interest. Cost per productive hour uses all ten years and reflects lost productive time. Lower use reduces productive hours without automatically reducing the contracted facility or lease envelope. This is why signed demand and staging are central to the recommendation.</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These percentages are proposed design decisions, not current agreements. A representative board approves pricing and admits members. An independent scientific panel resolves conflicts. Development equity funds site control and studies; construction debt follows permits, grid terms, priced scope and signed demand; equipment finance follows GPU terms and service commitments. Sponsors bear grid-delay risk unless transferred by contract. A departing member must supply replacement demand or cover unrecovered commitments.</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 seconds. The most decision-changing evidence is not another headline about national data centers. It is signed member demand, a property-specific utility offer and a tested/priced delivery design. Québec and Helsinki remain live alternatives. Include energy/water use, permits and grid impacts on other customers. Obtain evidence for the workload availability and recovery targets rather than implying professional engineering certification.</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Total planned speaking time across all eight slides is five minutes, followed by questions. Open the Investment Case for detailed ten-year rows and sensitivities, Evidence for claims/sources, and Initial Design for the failure walkthroughs. The decision requested is limited and reversible. This presentation does not certify a construction-ready engineering design.</a:t>
            </a:r>
          </a:p>
          <a:p>
            <a:r>
              <a:t>Sources: challenge brief pp. 2–3; docs/phase-01-define-website.md; shared deterministic model export 2026-10-06 22:13 UTC. Published sources: https://global-datacenter-design-explorer-test.stephxu700296.chatgpt.site/evidence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C29"/>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FFFFFF"/>
                </a:solidFill>
                <a:latin typeface="Helvetica Neue"/>
              </a:rPr>
              <a:t>Shared university AI infrastructure</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D9F4ED"/>
                </a:solidFill>
                <a:latin typeface="Helvetica Neue"/>
              </a:rPr>
              <a:t>01</a:t>
            </a:r>
          </a:p>
        </p:txBody>
      </p:sp>
      <p:sp>
        <p:nvSpPr>
          <p:cNvPr id="4" name="TextBox 3"/>
          <p:cNvSpPr txBox="1"/>
          <p:nvPr/>
        </p:nvSpPr>
        <p:spPr>
          <a:xfrm>
            <a:off x="685800" y="2133600"/>
            <a:ext cx="10477500" cy="971550"/>
          </a:xfrm>
          <a:prstGeom prst="rect">
            <a:avLst/>
          </a:prstGeom>
          <a:noFill/>
        </p:spPr>
        <p:txBody>
          <a:bodyPr wrap="square" anchor="t" lIns="0" rIns="0" tIns="0" bIns="0">
            <a:noAutofit/>
          </a:bodyPr>
          <a:lstStyle/>
          <a:p>
            <a:r>
              <a:rPr sz="4650" b="1">
                <a:solidFill>
                  <a:srgbClr val="FFFFFF"/>
                </a:solidFill>
                <a:latin typeface="Helvetica Neue"/>
              </a:rPr>
              <a:t>Lease first. Stage ownership.</a:t>
            </a:r>
          </a:p>
        </p:txBody>
      </p:sp>
      <p:sp>
        <p:nvSpPr>
          <p:cNvPr id="5" name="TextBox 4"/>
          <p:cNvSpPr txBox="1"/>
          <p:nvPr/>
        </p:nvSpPr>
        <p:spPr>
          <a:xfrm>
            <a:off x="723900" y="3581400"/>
            <a:ext cx="10287000" cy="1257300"/>
          </a:xfrm>
          <a:prstGeom prst="rect">
            <a:avLst/>
          </a:prstGeom>
          <a:noFill/>
        </p:spPr>
        <p:txBody>
          <a:bodyPr wrap="square" anchor="t" lIns="0" rIns="0" tIns="0" bIns="0">
            <a:noAutofit/>
          </a:bodyPr>
          <a:lstStyle/>
          <a:p>
            <a:r>
              <a:rPr sz="2550" b="0">
                <a:solidFill>
                  <a:srgbClr val="D9F4ED"/>
                </a:solidFill>
                <a:latin typeface="Helvetica Neue"/>
              </a:rPr>
              <a:t>Approve bounded diligence and leased access.</a:t>
            </a:r>
          </a:p>
          <a:p>
            <a:r>
              <a:rPr sz="2550" b="0">
                <a:solidFill>
                  <a:srgbClr val="D9F4ED"/>
                </a:solidFill>
                <a:latin typeface="Helvetica Neue"/>
              </a:rPr>
              <a:t>Send the full 25 MW build back for evidence.</a:t>
            </a:r>
          </a:p>
        </p:txBody>
      </p:sp>
      <p:sp>
        <p:nvSpPr>
          <p:cNvPr id="6" name="TextBox 5"/>
          <p:cNvSpPr txBox="1"/>
          <p:nvPr/>
        </p:nvSpPr>
        <p:spPr>
          <a:xfrm>
            <a:off x="723900" y="5791200"/>
            <a:ext cx="10096500" cy="333375"/>
          </a:xfrm>
          <a:prstGeom prst="rect">
            <a:avLst/>
          </a:prstGeom>
          <a:noFill/>
        </p:spPr>
        <p:txBody>
          <a:bodyPr wrap="square" anchor="t" lIns="0" rIns="0" tIns="0" bIns="0">
            <a:noAutofit/>
          </a:bodyPr>
          <a:lstStyle/>
          <a:p>
            <a:r>
              <a:rPr sz="1650" b="0">
                <a:solidFill>
                  <a:srgbClr val="C4D6DC"/>
                </a:solidFill>
                <a:latin typeface="Helvetica Neue"/>
              </a:rPr>
              <a:t>Investment committee discussion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Demand determines the scale and location</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02</a:t>
            </a:r>
          </a:p>
        </p:txBody>
      </p:sp>
      <p:sp>
        <p:nvSpPr>
          <p:cNvPr id="4" name="TextBox 3"/>
          <p:cNvSpPr txBox="1"/>
          <p:nvPr/>
        </p:nvSpPr>
        <p:spPr>
          <a:xfrm>
            <a:off x="685800" y="2085975"/>
            <a:ext cx="5238750" cy="781050"/>
          </a:xfrm>
          <a:prstGeom prst="rect">
            <a:avLst/>
          </a:prstGeom>
          <a:noFill/>
        </p:spPr>
        <p:txBody>
          <a:bodyPr wrap="square" anchor="t" lIns="0" rIns="0" tIns="0" bIns="0">
            <a:noAutofit/>
          </a:bodyPr>
          <a:lstStyle/>
          <a:p>
            <a:r>
              <a:rPr sz="4050" b="1">
                <a:solidFill>
                  <a:srgbClr val="078E83"/>
                </a:solidFill>
                <a:latin typeface="Helvetica Neue"/>
              </a:rPr>
              <a:t>67.99 million</a:t>
            </a:r>
          </a:p>
        </p:txBody>
      </p:sp>
      <p:sp>
        <p:nvSpPr>
          <p:cNvPr id="5" name="TextBox 4"/>
          <p:cNvSpPr txBox="1"/>
          <p:nvPr/>
        </p:nvSpPr>
        <p:spPr>
          <a:xfrm>
            <a:off x="723900" y="2914650"/>
            <a:ext cx="5238750" cy="523875"/>
          </a:xfrm>
          <a:prstGeom prst="rect">
            <a:avLst/>
          </a:prstGeom>
          <a:noFill/>
        </p:spPr>
        <p:txBody>
          <a:bodyPr wrap="square" anchor="t" lIns="0" rIns="0" tIns="0" bIns="0">
            <a:noAutofit/>
          </a:bodyPr>
          <a:lstStyle/>
          <a:p>
            <a:r>
              <a:rPr sz="2025" b="0">
                <a:solidFill>
                  <a:srgbClr val="14212B"/>
                </a:solidFill>
                <a:latin typeface="Helvetica Neue"/>
              </a:rPr>
              <a:t>productive GPU-hours per full year</a:t>
            </a:r>
          </a:p>
        </p:txBody>
      </p:sp>
      <p:sp>
        <p:nvSpPr>
          <p:cNvPr id="6" name="TextBox 5"/>
          <p:cNvSpPr txBox="1"/>
          <p:nvPr/>
        </p:nvSpPr>
        <p:spPr>
          <a:xfrm>
            <a:off x="723900" y="3629025"/>
            <a:ext cx="5219700" cy="838200"/>
          </a:xfrm>
          <a:prstGeom prst="rect">
            <a:avLst/>
          </a:prstGeom>
          <a:noFill/>
        </p:spPr>
        <p:txBody>
          <a:bodyPr wrap="square" anchor="t" lIns="0" rIns="0" tIns="0" bIns="0">
            <a:noAutofit/>
          </a:bodyPr>
          <a:lstStyle/>
          <a:p>
            <a:r>
              <a:rPr sz="1875" b="0">
                <a:solidFill>
                  <a:srgbClr val="14212B"/>
                </a:solidFill>
                <a:latin typeface="Helvetica Neue"/>
              </a:rPr>
              <a:t>12,000 GPUs at 65% utilization</a:t>
            </a:r>
          </a:p>
          <a:p>
            <a:r>
              <a:rPr sz="1875" b="0">
                <a:solidFill>
                  <a:srgbClr val="14212B"/>
                </a:solidFill>
                <a:latin typeface="Helvetica Neue"/>
              </a:rPr>
              <a:t>99.5% planning availability</a:t>
            </a:r>
          </a:p>
        </p:txBody>
      </p:sp>
      <p:graphicFrame>
        <p:nvGraphicFramePr>
          <p:cNvPr id="7" name="Table 6"/>
          <p:cNvGraphicFramePr>
            <a:graphicFrameLocks noGrp="1"/>
          </p:cNvGraphicFramePr>
          <p:nvPr/>
        </p:nvGraphicFramePr>
        <p:xfrm>
          <a:off x="6210300" y="2000250"/>
          <a:ext cx="5238750" cy="2590800"/>
        </p:xfrm>
        <a:graphic>
          <a:graphicData uri="http://schemas.openxmlformats.org/drawingml/2006/table">
            <a:tbl>
              <a:tblPr firstRow="0" bandRow="0">
                <a:tableStyleId>{5C22544A-7EE6-4342-B048-85BDC9FD1C3A}</a:tableStyleId>
              </a:tblPr>
              <a:tblGrid>
                <a:gridCol w="2400300"/>
                <a:gridCol w="1314450"/>
                <a:gridCol w="1524000"/>
              </a:tblGrid>
              <a:tr h="647700">
                <a:tc>
                  <a:txBody>
                    <a:bodyPr/>
                    <a:lstStyle/>
                    <a:p>
                      <a:r>
                        <a:rPr sz="1650" b="1">
                          <a:solidFill>
                            <a:srgbClr val="FFFFFF"/>
                          </a:solidFill>
                          <a:latin typeface="Helvetica Neue"/>
                        </a:rPr>
                        <a:t>Reference site</a:t>
                      </a:r>
                    </a:p>
                  </a:txBody>
                  <a:tcPr marL="95250" marR="95250" anchor="ctr">
                    <a:solidFill>
                      <a:srgbClr val="071C29"/>
                    </a:solidFill>
                  </a:tcPr>
                </a:tc>
                <a:tc>
                  <a:txBody>
                    <a:bodyPr/>
                    <a:lstStyle/>
                    <a:p>
                      <a:r>
                        <a:rPr sz="1650" b="1">
                          <a:solidFill>
                            <a:srgbClr val="FFFFFF"/>
                          </a:solidFill>
                          <a:latin typeface="Helvetica Neue"/>
                        </a:rPr>
                        <a:t>Score / 5</a:t>
                      </a:r>
                    </a:p>
                  </a:txBody>
                  <a:tcPr marL="95250" marR="95250" anchor="ctr">
                    <a:solidFill>
                      <a:srgbClr val="071C29"/>
                    </a:solidFill>
                  </a:tcPr>
                </a:tc>
                <a:tc>
                  <a:txBody>
                    <a:bodyPr/>
                    <a:lstStyle/>
                    <a:p>
                      <a:r>
                        <a:rPr sz="1650" b="1">
                          <a:solidFill>
                            <a:srgbClr val="FFFFFF"/>
                          </a:solidFill>
                          <a:latin typeface="Helvetica Neue"/>
                        </a:rPr>
                        <a:t>&lt;50 ms</a:t>
                      </a:r>
                    </a:p>
                  </a:txBody>
                  <a:tcPr marL="95250" marR="95250" anchor="ctr">
                    <a:solidFill>
                      <a:srgbClr val="071C29"/>
                    </a:solidFill>
                  </a:tcPr>
                </a:tc>
              </a:tr>
              <a:tr h="647700">
                <a:tc>
                  <a:txBody>
                    <a:bodyPr/>
                    <a:lstStyle/>
                    <a:p>
                      <a:r>
                        <a:rPr sz="1650" b="0">
                          <a:solidFill>
                            <a:srgbClr val="14212B"/>
                          </a:solidFill>
                          <a:latin typeface="Helvetica Neue"/>
                        </a:rPr>
                        <a:t>Texas</a:t>
                      </a:r>
                    </a:p>
                  </a:txBody>
                  <a:tcPr marL="95250" marR="95250" anchor="ctr">
                    <a:solidFill>
                      <a:srgbClr val="FFFFFF"/>
                    </a:solidFill>
                  </a:tcPr>
                </a:tc>
                <a:tc>
                  <a:txBody>
                    <a:bodyPr/>
                    <a:lstStyle/>
                    <a:p>
                      <a:r>
                        <a:rPr sz="1650" b="0">
                          <a:solidFill>
                            <a:srgbClr val="14212B"/>
                          </a:solidFill>
                          <a:latin typeface="Helvetica Neue"/>
                        </a:rPr>
                        <a:t>3.60</a:t>
                      </a:r>
                    </a:p>
                  </a:txBody>
                  <a:tcPr marL="95250" marR="95250" anchor="ctr">
                    <a:solidFill>
                      <a:srgbClr val="FFFFFF"/>
                    </a:solidFill>
                  </a:tcPr>
                </a:tc>
                <a:tc>
                  <a:txBody>
                    <a:bodyPr/>
                    <a:lstStyle/>
                    <a:p>
                      <a:r>
                        <a:rPr sz="1650" b="0">
                          <a:solidFill>
                            <a:srgbClr val="14212B"/>
                          </a:solidFill>
                          <a:latin typeface="Helvetica Neue"/>
                        </a:rPr>
                        <a:t>62.3%</a:t>
                      </a:r>
                    </a:p>
                  </a:txBody>
                  <a:tcPr marL="95250" marR="95250" anchor="ctr">
                    <a:solidFill>
                      <a:srgbClr val="FFFFFF"/>
                    </a:solidFill>
                  </a:tcPr>
                </a:tc>
              </a:tr>
              <a:tr h="647700">
                <a:tc>
                  <a:txBody>
                    <a:bodyPr/>
                    <a:lstStyle/>
                    <a:p>
                      <a:r>
                        <a:rPr sz="1650" b="0">
                          <a:solidFill>
                            <a:srgbClr val="14212B"/>
                          </a:solidFill>
                          <a:latin typeface="Helvetica Neue"/>
                        </a:rPr>
                        <a:t>Québec</a:t>
                      </a:r>
                    </a:p>
                  </a:txBody>
                  <a:tcPr marL="95250" marR="95250" anchor="ctr">
                    <a:solidFill>
                      <a:srgbClr val="EDF5F4"/>
                    </a:solidFill>
                  </a:tcPr>
                </a:tc>
                <a:tc>
                  <a:txBody>
                    <a:bodyPr/>
                    <a:lstStyle/>
                    <a:p>
                      <a:r>
                        <a:rPr sz="1650" b="0">
                          <a:solidFill>
                            <a:srgbClr val="14212B"/>
                          </a:solidFill>
                          <a:latin typeface="Helvetica Neue"/>
                        </a:rPr>
                        <a:t>3.05</a:t>
                      </a:r>
                    </a:p>
                  </a:txBody>
                  <a:tcPr marL="95250" marR="95250" anchor="ctr">
                    <a:solidFill>
                      <a:srgbClr val="EDF5F4"/>
                    </a:solidFill>
                  </a:tcPr>
                </a:tc>
                <a:tc>
                  <a:txBody>
                    <a:bodyPr/>
                    <a:lstStyle/>
                    <a:p>
                      <a:r>
                        <a:rPr sz="1650" b="0">
                          <a:solidFill>
                            <a:srgbClr val="14212B"/>
                          </a:solidFill>
                          <a:latin typeface="Helvetica Neue"/>
                        </a:rPr>
                        <a:t>50.7%</a:t>
                      </a:r>
                    </a:p>
                  </a:txBody>
                  <a:tcPr marL="95250" marR="95250" anchor="ctr">
                    <a:solidFill>
                      <a:srgbClr val="EDF5F4"/>
                    </a:solidFill>
                  </a:tcPr>
                </a:tc>
              </a:tr>
              <a:tr h="647700">
                <a:tc>
                  <a:txBody>
                    <a:bodyPr/>
                    <a:lstStyle/>
                    <a:p>
                      <a:r>
                        <a:rPr sz="1650" b="0">
                          <a:solidFill>
                            <a:srgbClr val="14212B"/>
                          </a:solidFill>
                          <a:latin typeface="Helvetica Neue"/>
                        </a:rPr>
                        <a:t>Helsinki</a:t>
                      </a:r>
                    </a:p>
                  </a:txBody>
                  <a:tcPr marL="95250" marR="95250" anchor="ctr">
                    <a:solidFill>
                      <a:srgbClr val="FFFFFF"/>
                    </a:solidFill>
                  </a:tcPr>
                </a:tc>
                <a:tc>
                  <a:txBody>
                    <a:bodyPr/>
                    <a:lstStyle/>
                    <a:p>
                      <a:r>
                        <a:rPr sz="1650" b="0">
                          <a:solidFill>
                            <a:srgbClr val="14212B"/>
                          </a:solidFill>
                          <a:latin typeface="Helvetica Neue"/>
                        </a:rPr>
                        <a:t>3.05</a:t>
                      </a:r>
                    </a:p>
                  </a:txBody>
                  <a:tcPr marL="95250" marR="95250" anchor="ctr">
                    <a:solidFill>
                      <a:srgbClr val="FFFFFF"/>
                    </a:solidFill>
                  </a:tcPr>
                </a:tc>
                <a:tc>
                  <a:txBody>
                    <a:bodyPr/>
                    <a:lstStyle/>
                    <a:p>
                      <a:r>
                        <a:rPr sz="1650" b="0">
                          <a:solidFill>
                            <a:srgbClr val="14212B"/>
                          </a:solidFill>
                          <a:latin typeface="Helvetica Neue"/>
                        </a:rPr>
                        <a:t>19.5%</a:t>
                      </a:r>
                    </a:p>
                  </a:txBody>
                  <a:tcPr marL="95250" marR="95250" anchor="ctr">
                    <a:solidFill>
                      <a:srgbClr val="FFFFFF"/>
                    </a:solidFill>
                  </a:tcPr>
                </a:tc>
              </a:tr>
            </a:tbl>
          </a:graphicData>
        </a:graphic>
      </p:graphicFrame>
      <p:sp>
        <p:nvSpPr>
          <p:cNvPr id="8" name="TextBox 7"/>
          <p:cNvSpPr txBox="1"/>
          <p:nvPr/>
        </p:nvSpPr>
        <p:spPr>
          <a:xfrm>
            <a:off x="723900" y="5210175"/>
            <a:ext cx="10668000" cy="742950"/>
          </a:xfrm>
          <a:prstGeom prst="rect">
            <a:avLst/>
          </a:prstGeom>
          <a:noFill/>
        </p:spPr>
        <p:txBody>
          <a:bodyPr wrap="square" anchor="t" lIns="0" rIns="0" tIns="0" bIns="0">
            <a:noAutofit/>
          </a:bodyPr>
          <a:lstStyle/>
          <a:p>
            <a:r>
              <a:rPr sz="2025" b="1">
                <a:solidFill>
                  <a:srgbClr val="14212B"/>
                </a:solidFill>
                <a:latin typeface="Helvetica Neue"/>
              </a:rPr>
              <a:t>These figures describe modeled capacity and proximity, not signed member demand.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The 25 MW concept needs tested failure paths</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03</a:t>
            </a:r>
          </a:p>
        </p:txBody>
      </p:sp>
      <p:sp>
        <p:nvSpPr>
          <p:cNvPr id="4" name="TextBox 3"/>
          <p:cNvSpPr txBox="1"/>
          <p:nvPr/>
        </p:nvSpPr>
        <p:spPr>
          <a:xfrm>
            <a:off x="685800" y="1857375"/>
            <a:ext cx="3238500" cy="781050"/>
          </a:xfrm>
          <a:prstGeom prst="rect">
            <a:avLst/>
          </a:prstGeom>
          <a:noFill/>
        </p:spPr>
        <p:txBody>
          <a:bodyPr wrap="square" anchor="t" lIns="0" rIns="0" tIns="0" bIns="0">
            <a:noAutofit/>
          </a:bodyPr>
          <a:lstStyle/>
          <a:p>
            <a:r>
              <a:rPr sz="4275" b="1">
                <a:solidFill>
                  <a:srgbClr val="078E83"/>
                </a:solidFill>
                <a:latin typeface="Helvetica Neue"/>
              </a:rPr>
              <a:t>20 MW</a:t>
            </a:r>
          </a:p>
        </p:txBody>
      </p:sp>
      <p:sp>
        <p:nvSpPr>
          <p:cNvPr id="5" name="TextBox 4"/>
          <p:cNvSpPr txBox="1"/>
          <p:nvPr/>
        </p:nvSpPr>
        <p:spPr>
          <a:xfrm>
            <a:off x="714375" y="2667000"/>
            <a:ext cx="3238500" cy="400050"/>
          </a:xfrm>
          <a:prstGeom prst="rect">
            <a:avLst/>
          </a:prstGeom>
          <a:noFill/>
        </p:spPr>
        <p:txBody>
          <a:bodyPr wrap="square" anchor="t" lIns="0" rIns="0" tIns="0" bIns="0">
            <a:noAutofit/>
          </a:bodyPr>
          <a:lstStyle/>
          <a:p>
            <a:r>
              <a:rPr sz="1875" b="0">
                <a:solidFill>
                  <a:srgbClr val="14212B"/>
                </a:solidFill>
                <a:latin typeface="Helvetica Neue"/>
              </a:rPr>
              <a:t>IT demand</a:t>
            </a:r>
          </a:p>
        </p:txBody>
      </p:sp>
      <p:sp>
        <p:nvSpPr>
          <p:cNvPr id="6" name="TextBox 5"/>
          <p:cNvSpPr txBox="1"/>
          <p:nvPr/>
        </p:nvSpPr>
        <p:spPr>
          <a:xfrm>
            <a:off x="4429125" y="1857375"/>
            <a:ext cx="3238500" cy="781050"/>
          </a:xfrm>
          <a:prstGeom prst="rect">
            <a:avLst/>
          </a:prstGeom>
          <a:noFill/>
        </p:spPr>
        <p:txBody>
          <a:bodyPr wrap="square" anchor="t" lIns="0" rIns="0" tIns="0" bIns="0">
            <a:noAutofit/>
          </a:bodyPr>
          <a:lstStyle/>
          <a:p>
            <a:r>
              <a:rPr sz="4275" b="1">
                <a:solidFill>
                  <a:srgbClr val="078E83"/>
                </a:solidFill>
                <a:latin typeface="Helvetica Neue"/>
              </a:rPr>
              <a:t>25 MW</a:t>
            </a:r>
          </a:p>
        </p:txBody>
      </p:sp>
      <p:sp>
        <p:nvSpPr>
          <p:cNvPr id="7" name="TextBox 6"/>
          <p:cNvSpPr txBox="1"/>
          <p:nvPr/>
        </p:nvSpPr>
        <p:spPr>
          <a:xfrm>
            <a:off x="4457700" y="2667000"/>
            <a:ext cx="3238500" cy="400050"/>
          </a:xfrm>
          <a:prstGeom prst="rect">
            <a:avLst/>
          </a:prstGeom>
          <a:noFill/>
        </p:spPr>
        <p:txBody>
          <a:bodyPr wrap="square" anchor="t" lIns="0" rIns="0" tIns="0" bIns="0">
            <a:noAutofit/>
          </a:bodyPr>
          <a:lstStyle/>
          <a:p>
            <a:r>
              <a:rPr sz="1875" b="0">
                <a:solidFill>
                  <a:srgbClr val="14212B"/>
                </a:solidFill>
                <a:latin typeface="Helvetica Neue"/>
              </a:rPr>
              <a:t>Whole facility</a:t>
            </a:r>
          </a:p>
        </p:txBody>
      </p:sp>
      <p:sp>
        <p:nvSpPr>
          <p:cNvPr id="8" name="TextBox 7"/>
          <p:cNvSpPr txBox="1"/>
          <p:nvPr/>
        </p:nvSpPr>
        <p:spPr>
          <a:xfrm>
            <a:off x="8191500" y="1857375"/>
            <a:ext cx="3238500" cy="781050"/>
          </a:xfrm>
          <a:prstGeom prst="rect">
            <a:avLst/>
          </a:prstGeom>
          <a:noFill/>
        </p:spPr>
        <p:txBody>
          <a:bodyPr wrap="square" anchor="t" lIns="0" rIns="0" tIns="0" bIns="0">
            <a:noAutofit/>
          </a:bodyPr>
          <a:lstStyle/>
          <a:p>
            <a:r>
              <a:rPr sz="4275" b="1">
                <a:solidFill>
                  <a:srgbClr val="078E83"/>
                </a:solidFill>
                <a:latin typeface="Helvetica Neue"/>
              </a:rPr>
              <a:t>219 GWh</a:t>
            </a:r>
          </a:p>
        </p:txBody>
      </p:sp>
      <p:sp>
        <p:nvSpPr>
          <p:cNvPr id="9" name="TextBox 8"/>
          <p:cNvSpPr txBox="1"/>
          <p:nvPr/>
        </p:nvSpPr>
        <p:spPr>
          <a:xfrm>
            <a:off x="8220075" y="2667000"/>
            <a:ext cx="3238500" cy="400050"/>
          </a:xfrm>
          <a:prstGeom prst="rect">
            <a:avLst/>
          </a:prstGeom>
          <a:noFill/>
        </p:spPr>
        <p:txBody>
          <a:bodyPr wrap="square" anchor="t" lIns="0" rIns="0" tIns="0" bIns="0">
            <a:noAutofit/>
          </a:bodyPr>
          <a:lstStyle/>
          <a:p>
            <a:r>
              <a:rPr sz="1875" b="0">
                <a:solidFill>
                  <a:srgbClr val="14212B"/>
                </a:solidFill>
                <a:latin typeface="Helvetica Neue"/>
              </a:rPr>
              <a:t>Annual electricity</a:t>
            </a:r>
          </a:p>
        </p:txBody>
      </p:sp>
      <p:sp>
        <p:nvSpPr>
          <p:cNvPr id="10" name="TextBox 9"/>
          <p:cNvSpPr txBox="1"/>
          <p:nvPr/>
        </p:nvSpPr>
        <p:spPr>
          <a:xfrm>
            <a:off x="723900" y="3514725"/>
            <a:ext cx="10715625" cy="962025"/>
          </a:xfrm>
          <a:prstGeom prst="rect">
            <a:avLst/>
          </a:prstGeom>
          <a:noFill/>
        </p:spPr>
        <p:txBody>
          <a:bodyPr wrap="square" anchor="t" lIns="0" rIns="0" tIns="0" bIns="0">
            <a:noAutofit/>
          </a:bodyPr>
          <a:lstStyle/>
          <a:p>
            <a:r>
              <a:rPr sz="2100" b="0">
                <a:solidFill>
                  <a:srgbClr val="14212B"/>
                </a:solidFill>
                <a:latin typeface="Helvetica Neue"/>
              </a:rPr>
              <a:t>Grid and protected distribution supply UPS, GPUs, cooling, network and storage. Closed-loop cooling avoids routine evaporative demand.</a:t>
            </a:r>
          </a:p>
        </p:txBody>
      </p:sp>
      <p:sp>
        <p:nvSpPr>
          <p:cNvPr id="11" name="TextBox 10"/>
          <p:cNvSpPr txBox="1"/>
          <p:nvPr/>
        </p:nvSpPr>
        <p:spPr>
          <a:xfrm>
            <a:off x="723900" y="4733925"/>
            <a:ext cx="4953000" cy="438150"/>
          </a:xfrm>
          <a:prstGeom prst="rect">
            <a:avLst/>
          </a:prstGeom>
          <a:noFill/>
        </p:spPr>
        <p:txBody>
          <a:bodyPr wrap="square" anchor="t" lIns="0" rIns="0" tIns="0" bIns="0">
            <a:noAutofit/>
          </a:bodyPr>
          <a:lstStyle/>
          <a:p>
            <a:r>
              <a:rPr sz="2100" b="1">
                <a:solidFill>
                  <a:srgbClr val="078E83"/>
                </a:solidFill>
                <a:latin typeface="Helvetica Neue"/>
              </a:rPr>
              <a:t>Largest component loss</a:t>
            </a:r>
          </a:p>
        </p:txBody>
      </p:sp>
      <p:sp>
        <p:nvSpPr>
          <p:cNvPr id="12" name="TextBox 11"/>
          <p:cNvSpPr txBox="1"/>
          <p:nvPr/>
        </p:nvSpPr>
        <p:spPr>
          <a:xfrm>
            <a:off x="723900" y="5181600"/>
            <a:ext cx="4953000" cy="914400"/>
          </a:xfrm>
          <a:prstGeom prst="rect">
            <a:avLst/>
          </a:prstGeom>
          <a:noFill/>
        </p:spPr>
        <p:txBody>
          <a:bodyPr wrap="square" anchor="t" lIns="0" rIns="0" tIns="0" bIns="0">
            <a:noAutofit/>
          </a:bodyPr>
          <a:lstStyle/>
          <a:p>
            <a:r>
              <a:rPr sz="1725" b="0">
                <a:solidFill>
                  <a:srgbClr val="14212B"/>
                </a:solidFill>
                <a:latin typeface="Helvetica Neue"/>
              </a:rPr>
              <a:t>Isolate the fault, bridge transfer, preserve critical load and checkpoint or shed flexible training.</a:t>
            </a:r>
          </a:p>
        </p:txBody>
      </p:sp>
      <p:sp>
        <p:nvSpPr>
          <p:cNvPr id="13" name="TextBox 12"/>
          <p:cNvSpPr txBox="1"/>
          <p:nvPr/>
        </p:nvSpPr>
        <p:spPr>
          <a:xfrm>
            <a:off x="6410325" y="4733925"/>
            <a:ext cx="4953000" cy="438150"/>
          </a:xfrm>
          <a:prstGeom prst="rect">
            <a:avLst/>
          </a:prstGeom>
          <a:noFill/>
        </p:spPr>
        <p:txBody>
          <a:bodyPr wrap="square" anchor="t" lIns="0" rIns="0" tIns="0" bIns="0">
            <a:noAutofit/>
          </a:bodyPr>
          <a:lstStyle/>
          <a:p>
            <a:r>
              <a:rPr sz="2100" b="1">
                <a:solidFill>
                  <a:srgbClr val="078E83"/>
                </a:solidFill>
                <a:latin typeface="Helvetica Neue"/>
              </a:rPr>
              <a:t>48-hour grid outage</a:t>
            </a:r>
          </a:p>
        </p:txBody>
      </p:sp>
      <p:sp>
        <p:nvSpPr>
          <p:cNvPr id="14" name="TextBox 13"/>
          <p:cNvSpPr txBox="1"/>
          <p:nvPr/>
        </p:nvSpPr>
        <p:spPr>
          <a:xfrm>
            <a:off x="6410325" y="5181600"/>
            <a:ext cx="4953000" cy="914400"/>
          </a:xfrm>
          <a:prstGeom prst="rect">
            <a:avLst/>
          </a:prstGeom>
          <a:noFill/>
        </p:spPr>
        <p:txBody>
          <a:bodyPr wrap="square" anchor="t" lIns="0" rIns="0" tIns="0" bIns="0">
            <a:noAutofit/>
          </a:bodyPr>
          <a:lstStyle/>
          <a:p>
            <a:r>
              <a:rPr sz="1725" b="0">
                <a:solidFill>
                  <a:srgbClr val="14212B"/>
                </a:solidFill>
                <a:latin typeface="Helvetica Neue"/>
              </a:rPr>
              <a:t>1,200 MWh delivered backup energy at full load. Verify fuel, refuelling and cooling continuity.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Ten-year costs separate facility and GPU fleet</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04</a:t>
            </a:r>
          </a:p>
        </p:txBody>
      </p:sp>
      <p:graphicFrame>
        <p:nvGraphicFramePr>
          <p:cNvPr id="4" name="Table 3"/>
          <p:cNvGraphicFramePr>
            <a:graphicFrameLocks noGrp="1"/>
          </p:cNvGraphicFramePr>
          <p:nvPr/>
        </p:nvGraphicFramePr>
        <p:xfrm>
          <a:off x="685800" y="1895475"/>
          <a:ext cx="10820400" cy="3371850"/>
        </p:xfrm>
        <a:graphic>
          <a:graphicData uri="http://schemas.openxmlformats.org/drawingml/2006/table">
            <a:tbl>
              <a:tblPr firstRow="0" bandRow="0">
                <a:tableStyleId>{5C22544A-7EE6-4342-B048-85BDC9FD1C3A}</a:tableStyleId>
              </a:tblPr>
              <a:tblGrid>
                <a:gridCol w="6858000"/>
                <a:gridCol w="3962400"/>
              </a:tblGrid>
              <a:tr h="561975">
                <a:tc>
                  <a:txBody>
                    <a:bodyPr/>
                    <a:lstStyle/>
                    <a:p>
                      <a:r>
                        <a:rPr sz="1800" b="1">
                          <a:solidFill>
                            <a:srgbClr val="FFFFFF"/>
                          </a:solidFill>
                          <a:latin typeface="Helvetica Neue"/>
                        </a:rPr>
                        <a:t>Build capital</a:t>
                      </a:r>
                    </a:p>
                  </a:txBody>
                  <a:tcPr marL="95250" marR="95250" anchor="ctr">
                    <a:solidFill>
                      <a:srgbClr val="071C29"/>
                    </a:solidFill>
                  </a:tcPr>
                </a:tc>
                <a:tc>
                  <a:txBody>
                    <a:bodyPr/>
                    <a:lstStyle/>
                    <a:p>
                      <a:r>
                        <a:rPr sz="1800" b="1">
                          <a:solidFill>
                            <a:srgbClr val="FFFFFF"/>
                          </a:solidFill>
                          <a:latin typeface="Helvetica Neue"/>
                        </a:rPr>
                        <a:t>USD millions</a:t>
                      </a:r>
                    </a:p>
                  </a:txBody>
                  <a:tcPr marL="95250" marR="95250" anchor="ctr">
                    <a:solidFill>
                      <a:srgbClr val="071C29"/>
                    </a:solidFill>
                  </a:tcPr>
                </a:tc>
              </a:tr>
              <a:tr h="561975">
                <a:tc>
                  <a:txBody>
                    <a:bodyPr/>
                    <a:lstStyle/>
                    <a:p>
                      <a:r>
                        <a:rPr sz="1800" b="0">
                          <a:solidFill>
                            <a:srgbClr val="14212B"/>
                          </a:solidFill>
                          <a:latin typeface="Helvetica Neue"/>
                        </a:rPr>
                        <a:t>Facility</a:t>
                      </a:r>
                    </a:p>
                  </a:txBody>
                  <a:tcPr marL="95250" marR="95250" anchor="ctr">
                    <a:solidFill>
                      <a:srgbClr val="FFFFFF"/>
                    </a:solidFill>
                  </a:tcPr>
                </a:tc>
                <a:tc>
                  <a:txBody>
                    <a:bodyPr/>
                    <a:lstStyle/>
                    <a:p>
                      <a:r>
                        <a:rPr sz="1800" b="0">
                          <a:solidFill>
                            <a:srgbClr val="14212B"/>
                          </a:solidFill>
                          <a:latin typeface="Helvetica Neue"/>
                        </a:rPr>
                        <a:t>200.0</a:t>
                      </a:r>
                    </a:p>
                  </a:txBody>
                  <a:tcPr marL="95250" marR="95250" anchor="ctr">
                    <a:solidFill>
                      <a:srgbClr val="FFFFFF"/>
                    </a:solidFill>
                  </a:tcPr>
                </a:tc>
              </a:tr>
              <a:tr h="561975">
                <a:tc>
                  <a:txBody>
                    <a:bodyPr/>
                    <a:lstStyle/>
                    <a:p>
                      <a:r>
                        <a:rPr sz="1800" b="0">
                          <a:solidFill>
                            <a:srgbClr val="14212B"/>
                          </a:solidFill>
                          <a:latin typeface="Helvetica Neue"/>
                        </a:rPr>
                        <a:t>Grid upgrades</a:t>
                      </a:r>
                    </a:p>
                  </a:txBody>
                  <a:tcPr marL="95250" marR="95250" anchor="ctr">
                    <a:solidFill>
                      <a:srgbClr val="EDF5F4"/>
                    </a:solidFill>
                  </a:tcPr>
                </a:tc>
                <a:tc>
                  <a:txBody>
                    <a:bodyPr/>
                    <a:lstStyle/>
                    <a:p>
                      <a:r>
                        <a:rPr sz="1800" b="0">
                          <a:solidFill>
                            <a:srgbClr val="14212B"/>
                          </a:solidFill>
                          <a:latin typeface="Helvetica Neue"/>
                        </a:rPr>
                        <a:t>30.0</a:t>
                      </a:r>
                    </a:p>
                  </a:txBody>
                  <a:tcPr marL="95250" marR="95250" anchor="ctr">
                    <a:solidFill>
                      <a:srgbClr val="EDF5F4"/>
                    </a:solidFill>
                  </a:tcPr>
                </a:tc>
              </a:tr>
              <a:tr h="561975">
                <a:tc>
                  <a:txBody>
                    <a:bodyPr/>
                    <a:lstStyle/>
                    <a:p>
                      <a:r>
                        <a:rPr sz="1800" b="0">
                          <a:solidFill>
                            <a:srgbClr val="14212B"/>
                          </a:solidFill>
                          <a:latin typeface="Helvetica Neue"/>
                        </a:rPr>
                        <a:t>Land</a:t>
                      </a:r>
                    </a:p>
                  </a:txBody>
                  <a:tcPr marL="95250" marR="95250" anchor="ctr">
                    <a:solidFill>
                      <a:srgbClr val="FFFFFF"/>
                    </a:solidFill>
                  </a:tcPr>
                </a:tc>
                <a:tc>
                  <a:txBody>
                    <a:bodyPr/>
                    <a:lstStyle/>
                    <a:p>
                      <a:r>
                        <a:rPr sz="1800" b="0">
                          <a:solidFill>
                            <a:srgbClr val="14212B"/>
                          </a:solidFill>
                          <a:latin typeface="Helvetica Neue"/>
                        </a:rPr>
                        <a:t>10.0</a:t>
                      </a:r>
                    </a:p>
                  </a:txBody>
                  <a:tcPr marL="95250" marR="95250" anchor="ctr">
                    <a:solidFill>
                      <a:srgbClr val="FFFFFF"/>
                    </a:solidFill>
                  </a:tcPr>
                </a:tc>
              </a:tr>
              <a:tr h="561975">
                <a:tc>
                  <a:txBody>
                    <a:bodyPr/>
                    <a:lstStyle/>
                    <a:p>
                      <a:r>
                        <a:rPr sz="1800" b="0">
                          <a:solidFill>
                            <a:srgbClr val="14212B"/>
                          </a:solidFill>
                          <a:latin typeface="Helvetica Neue"/>
                        </a:rPr>
                        <a:t>GPU fleet</a:t>
                      </a:r>
                    </a:p>
                  </a:txBody>
                  <a:tcPr marL="95250" marR="95250" anchor="ctr">
                    <a:solidFill>
                      <a:srgbClr val="EDF5F4"/>
                    </a:solidFill>
                  </a:tcPr>
                </a:tc>
                <a:tc>
                  <a:txBody>
                    <a:bodyPr/>
                    <a:lstStyle/>
                    <a:p>
                      <a:r>
                        <a:rPr sz="1800" b="0">
                          <a:solidFill>
                            <a:srgbClr val="14212B"/>
                          </a:solidFill>
                          <a:latin typeface="Helvetica Neue"/>
                        </a:rPr>
                        <a:t>240.0</a:t>
                      </a:r>
                    </a:p>
                  </a:txBody>
                  <a:tcPr marL="95250" marR="95250" anchor="ctr">
                    <a:solidFill>
                      <a:srgbClr val="EDF5F4"/>
                    </a:solidFill>
                  </a:tcPr>
                </a:tc>
              </a:tr>
              <a:tr h="561975">
                <a:tc>
                  <a:txBody>
                    <a:bodyPr/>
                    <a:lstStyle/>
                    <a:p>
                      <a:r>
                        <a:rPr sz="1800" b="0">
                          <a:solidFill>
                            <a:srgbClr val="14212B"/>
                          </a:solidFill>
                          <a:latin typeface="Helvetica Neue"/>
                        </a:rPr>
                        <a:t>Total</a:t>
                      </a:r>
                    </a:p>
                  </a:txBody>
                  <a:tcPr marL="95250" marR="95250" anchor="ctr">
                    <a:solidFill>
                      <a:srgbClr val="FFFFFF"/>
                    </a:solidFill>
                  </a:tcPr>
                </a:tc>
                <a:tc>
                  <a:txBody>
                    <a:bodyPr/>
                    <a:lstStyle/>
                    <a:p>
                      <a:r>
                        <a:rPr sz="1800" b="0">
                          <a:solidFill>
                            <a:srgbClr val="14212B"/>
                          </a:solidFill>
                          <a:latin typeface="Helvetica Neue"/>
                        </a:rPr>
                        <a:t>480.0</a:t>
                      </a:r>
                    </a:p>
                  </a:txBody>
                  <a:tcPr marL="95250" marR="95250" anchor="ctr">
                    <a:solidFill>
                      <a:srgbClr val="FFFFFF"/>
                    </a:solidFill>
                  </a:tcPr>
                </a:tc>
              </a:tr>
            </a:tbl>
          </a:graphicData>
        </a:graphic>
      </p:graphicFrame>
      <p:sp>
        <p:nvSpPr>
          <p:cNvPr id="5" name="TextBox 4"/>
          <p:cNvSpPr txBox="1"/>
          <p:nvPr/>
        </p:nvSpPr>
        <p:spPr>
          <a:xfrm>
            <a:off x="723900" y="5495925"/>
            <a:ext cx="10382250" cy="685800"/>
          </a:xfrm>
          <a:prstGeom prst="rect">
            <a:avLst/>
          </a:prstGeom>
          <a:noFill/>
        </p:spPr>
        <p:txBody>
          <a:bodyPr wrap="square" anchor="t" lIns="0" rIns="0" tIns="0" bIns="0">
            <a:noAutofit/>
          </a:bodyPr>
          <a:lstStyle/>
          <a:p>
            <a:r>
              <a:rPr sz="1875" b="0">
                <a:solidFill>
                  <a:srgbClr val="14212B"/>
                </a:solidFill>
                <a:latin typeface="Helvetica Neue"/>
              </a:rPr>
              <a:t>Power, staffing, maintenance, financing and GPU replacement every 4 years appear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Required base and stress comparisons</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05</a:t>
            </a:r>
          </a:p>
        </p:txBody>
      </p:sp>
      <p:graphicFrame>
        <p:nvGraphicFramePr>
          <p:cNvPr id="4" name="Table 3"/>
          <p:cNvGraphicFramePr>
            <a:graphicFrameLocks noGrp="1"/>
          </p:cNvGraphicFramePr>
          <p:nvPr/>
        </p:nvGraphicFramePr>
        <p:xfrm>
          <a:off x="685800" y="1771650"/>
          <a:ext cx="10820400" cy="3714750"/>
        </p:xfrm>
        <a:graphic>
          <a:graphicData uri="http://schemas.openxmlformats.org/drawingml/2006/table">
            <a:tbl>
              <a:tblPr firstRow="0" bandRow="0">
                <a:tableStyleId>{5C22544A-7EE6-4342-B048-85BDC9FD1C3A}</a:tableStyleId>
              </a:tblPr>
              <a:tblGrid>
                <a:gridCol w="2971800"/>
                <a:gridCol w="1962150"/>
                <a:gridCol w="1752600"/>
                <a:gridCol w="1905000"/>
                <a:gridCol w="2228850"/>
              </a:tblGrid>
              <a:tr h="371475">
                <a:tc>
                  <a:txBody>
                    <a:bodyPr/>
                    <a:lstStyle/>
                    <a:p>
                      <a:r>
                        <a:rPr sz="1575" b="1">
                          <a:solidFill>
                            <a:srgbClr val="FFFFFF"/>
                          </a:solidFill>
                          <a:latin typeface="Helvetica Neue"/>
                        </a:rPr>
                        <a:t>Case / path</a:t>
                      </a:r>
                    </a:p>
                  </a:txBody>
                  <a:tcPr marL="95250" marR="95250" anchor="ctr">
                    <a:solidFill>
                      <a:srgbClr val="071C29"/>
                    </a:solidFill>
                  </a:tcPr>
                </a:tc>
                <a:tc>
                  <a:txBody>
                    <a:bodyPr/>
                    <a:lstStyle/>
                    <a:p>
                      <a:r>
                        <a:rPr sz="1575" b="1">
                          <a:solidFill>
                            <a:srgbClr val="FFFFFF"/>
                          </a:solidFill>
                          <a:latin typeface="Helvetica Neue"/>
                        </a:rPr>
                        <a:t>Before opening</a:t>
                      </a:r>
                    </a:p>
                  </a:txBody>
                  <a:tcPr marL="95250" marR="95250" anchor="ctr">
                    <a:solidFill>
                      <a:srgbClr val="071C29"/>
                    </a:solidFill>
                  </a:tcPr>
                </a:tc>
                <a:tc>
                  <a:txBody>
                    <a:bodyPr/>
                    <a:lstStyle/>
                    <a:p>
                      <a:r>
                        <a:rPr sz="1575" b="1">
                          <a:solidFill>
                            <a:srgbClr val="FFFFFF"/>
                          </a:solidFill>
                          <a:latin typeface="Helvetica Neue"/>
                        </a:rPr>
                        <a:t>Annual ops</a:t>
                      </a:r>
                    </a:p>
                  </a:txBody>
                  <a:tcPr marL="95250" marR="95250" anchor="ctr">
                    <a:solidFill>
                      <a:srgbClr val="071C29"/>
                    </a:solidFill>
                  </a:tcPr>
                </a:tc>
                <a:tc>
                  <a:txBody>
                    <a:bodyPr/>
                    <a:lstStyle/>
                    <a:p>
                      <a:r>
                        <a:rPr sz="1575" b="1">
                          <a:solidFill>
                            <a:srgbClr val="FFFFFF"/>
                          </a:solidFill>
                          <a:latin typeface="Helvetica Neue"/>
                        </a:rPr>
                        <a:t>$/GPU-hour</a:t>
                      </a:r>
                    </a:p>
                  </a:txBody>
                  <a:tcPr marL="95250" marR="95250" anchor="ctr">
                    <a:solidFill>
                      <a:srgbClr val="071C29"/>
                    </a:solidFill>
                  </a:tcPr>
                </a:tc>
                <a:tc>
                  <a:txBody>
                    <a:bodyPr/>
                    <a:lstStyle/>
                    <a:p>
                      <a:r>
                        <a:rPr sz="1575" b="1">
                          <a:solidFill>
                            <a:srgbClr val="FFFFFF"/>
                          </a:solidFill>
                          <a:latin typeface="Helvetica Neue"/>
                        </a:rPr>
                        <a:t>Capital at risk</a:t>
                      </a:r>
                    </a:p>
                  </a:txBody>
                  <a:tcPr marL="95250" marR="95250" anchor="ctr">
                    <a:solidFill>
                      <a:srgbClr val="071C29"/>
                    </a:solidFill>
                  </a:tcPr>
                </a:tc>
              </a:tr>
              <a:tr h="371475">
                <a:tc>
                  <a:txBody>
                    <a:bodyPr/>
                    <a:lstStyle/>
                    <a:p>
                      <a:r>
                        <a:rPr sz="1575" b="0">
                          <a:solidFill>
                            <a:srgbClr val="14212B"/>
                          </a:solidFill>
                          <a:latin typeface="Helvetica Neue"/>
                        </a:rPr>
                        <a:t>Base / build</a:t>
                      </a:r>
                    </a:p>
                  </a:txBody>
                  <a:tcPr marL="95250" marR="95250" anchor="ctr">
                    <a:solidFill>
                      <a:srgbClr val="FFFFFF"/>
                    </a:solidFill>
                  </a:tcPr>
                </a:tc>
                <a:tc>
                  <a:txBody>
                    <a:bodyPr/>
                    <a:lstStyle/>
                    <a:p>
                      <a:r>
                        <a:rPr sz="1575" b="0">
                          <a:solidFill>
                            <a:srgbClr val="14212B"/>
                          </a:solidFill>
                          <a:latin typeface="Helvetica Neue"/>
                        </a:rPr>
                        <a:t>$489.0m</a:t>
                      </a:r>
                    </a:p>
                  </a:txBody>
                  <a:tcPr marL="95250" marR="95250" anchor="ctr">
                    <a:solidFill>
                      <a:srgbClr val="FFFFFF"/>
                    </a:solidFill>
                  </a:tcPr>
                </a:tc>
                <a:tc>
                  <a:txBody>
                    <a:bodyPr/>
                    <a:lstStyle/>
                    <a:p>
                      <a:r>
                        <a:rPr sz="1575" b="0">
                          <a:solidFill>
                            <a:srgbClr val="14212B"/>
                          </a:solidFill>
                          <a:latin typeface="Helvetica Neue"/>
                        </a:rPr>
                        <a:t>$55.5m</a:t>
                      </a:r>
                    </a:p>
                  </a:txBody>
                  <a:tcPr marL="95250" marR="95250" anchor="ctr">
                    <a:solidFill>
                      <a:srgbClr val="FFFFFF"/>
                    </a:solidFill>
                  </a:tcPr>
                </a:tc>
                <a:tc>
                  <a:txBody>
                    <a:bodyPr/>
                    <a:lstStyle/>
                    <a:p>
                      <a:r>
                        <a:rPr sz="1575" b="0">
                          <a:solidFill>
                            <a:srgbClr val="14212B"/>
                          </a:solidFill>
                          <a:latin typeface="Helvetica Neue"/>
                        </a:rPr>
                        <a:t>$2.67</a:t>
                      </a:r>
                    </a:p>
                  </a:txBody>
                  <a:tcPr marL="95250" marR="95250" anchor="ctr">
                    <a:solidFill>
                      <a:srgbClr val="FFFFFF"/>
                    </a:solidFill>
                  </a:tcPr>
                </a:tc>
                <a:tc>
                  <a:txBody>
                    <a:bodyPr/>
                    <a:lstStyle/>
                    <a:p>
                      <a:r>
                        <a:rPr sz="1575" b="0">
                          <a:solidFill>
                            <a:srgbClr val="14212B"/>
                          </a:solidFill>
                          <a:latin typeface="Helvetica Neue"/>
                        </a:rPr>
                        <a:t>$420.2m</a:t>
                      </a:r>
                    </a:p>
                  </a:txBody>
                  <a:tcPr marL="95250" marR="95250" anchor="ctr">
                    <a:solidFill>
                      <a:srgbClr val="FFFFFF"/>
                    </a:solidFill>
                  </a:tcPr>
                </a:tc>
              </a:tr>
              <a:tr h="371475">
                <a:tc>
                  <a:txBody>
                    <a:bodyPr/>
                    <a:lstStyle/>
                    <a:p>
                      <a:r>
                        <a:rPr sz="1575" b="0">
                          <a:solidFill>
                            <a:srgbClr val="14212B"/>
                          </a:solidFill>
                          <a:latin typeface="Helvetica Neue"/>
                        </a:rPr>
                        <a:t>Base / lease</a:t>
                      </a:r>
                    </a:p>
                  </a:txBody>
                  <a:tcPr marL="95250" marR="95250" anchor="ctr">
                    <a:solidFill>
                      <a:srgbClr val="EDF5F4"/>
                    </a:solidFill>
                  </a:tcPr>
                </a:tc>
                <a:tc>
                  <a:txBody>
                    <a:bodyPr/>
                    <a:lstStyle/>
                    <a:p>
                      <a:r>
                        <a:rPr sz="1575" b="0">
                          <a:solidFill>
                            <a:srgbClr val="14212B"/>
                          </a:solidFill>
                          <a:latin typeface="Helvetica Neue"/>
                        </a:rPr>
                        <a:t>$0.0m</a:t>
                      </a:r>
                    </a:p>
                  </a:txBody>
                  <a:tcPr marL="95250" marR="95250" anchor="ctr">
                    <a:solidFill>
                      <a:srgbClr val="EDF5F4"/>
                    </a:solidFill>
                  </a:tcPr>
                </a:tc>
                <a:tc>
                  <a:txBody>
                    <a:bodyPr/>
                    <a:lstStyle/>
                    <a:p>
                      <a:r>
                        <a:rPr sz="1575" b="0">
                          <a:solidFill>
                            <a:srgbClr val="14212B"/>
                          </a:solidFill>
                          <a:latin typeface="Helvetica Neue"/>
                        </a:rPr>
                        <a:t>$92.0m</a:t>
                      </a:r>
                    </a:p>
                  </a:txBody>
                  <a:tcPr marL="95250" marR="95250" anchor="ctr">
                    <a:solidFill>
                      <a:srgbClr val="EDF5F4"/>
                    </a:solidFill>
                  </a:tcPr>
                </a:tc>
                <a:tc>
                  <a:txBody>
                    <a:bodyPr/>
                    <a:lstStyle/>
                    <a:p>
                      <a:r>
                        <a:rPr sz="1575" b="0">
                          <a:solidFill>
                            <a:srgbClr val="14212B"/>
                          </a:solidFill>
                          <a:latin typeface="Helvetica Neue"/>
                        </a:rPr>
                        <a:t>$1.50</a:t>
                      </a:r>
                    </a:p>
                  </a:txBody>
                  <a:tcPr marL="95250" marR="95250" anchor="ctr">
                    <a:solidFill>
                      <a:srgbClr val="EDF5F4"/>
                    </a:solidFill>
                  </a:tcPr>
                </a:tc>
                <a:tc>
                  <a:txBody>
                    <a:bodyPr/>
                    <a:lstStyle/>
                    <a:p>
                      <a:r>
                        <a:rPr sz="1575" b="0">
                          <a:solidFill>
                            <a:srgbClr val="14212B"/>
                          </a:solidFill>
                          <a:latin typeface="Helvetica Neue"/>
                        </a:rPr>
                        <a:t>$0.0m</a:t>
                      </a:r>
                    </a:p>
                  </a:txBody>
                  <a:tcPr marL="95250" marR="95250" anchor="ctr">
                    <a:solidFill>
                      <a:srgbClr val="EDF5F4"/>
                    </a:solidFill>
                  </a:tcPr>
                </a:tc>
              </a:tr>
              <a:tr h="371475">
                <a:tc>
                  <a:txBody>
                    <a:bodyPr/>
                    <a:lstStyle/>
                    <a:p>
                      <a:r>
                        <a:rPr sz="1575" b="0">
                          <a:solidFill>
                            <a:srgbClr val="14212B"/>
                          </a:solidFill>
                          <a:latin typeface="Helvetica Neue"/>
                        </a:rPr>
                        <a:t>Base / hybrid</a:t>
                      </a:r>
                    </a:p>
                  </a:txBody>
                  <a:tcPr marL="95250" marR="95250" anchor="ctr">
                    <a:solidFill>
                      <a:srgbClr val="FFFFFF"/>
                    </a:solidFill>
                  </a:tcPr>
                </a:tc>
                <a:tc>
                  <a:txBody>
                    <a:bodyPr/>
                    <a:lstStyle/>
                    <a:p>
                      <a:r>
                        <a:rPr sz="1575" b="0">
                          <a:solidFill>
                            <a:srgbClr val="14212B"/>
                          </a:solidFill>
                          <a:latin typeface="Helvetica Neue"/>
                        </a:rPr>
                        <a:t>$550.7m</a:t>
                      </a:r>
                    </a:p>
                  </a:txBody>
                  <a:tcPr marL="95250" marR="95250" anchor="ctr">
                    <a:solidFill>
                      <a:srgbClr val="FFFFFF"/>
                    </a:solidFill>
                  </a:tcPr>
                </a:tc>
                <a:tc>
                  <a:txBody>
                    <a:bodyPr/>
                    <a:lstStyle/>
                    <a:p>
                      <a:r>
                        <a:rPr sz="1575" b="0">
                          <a:solidFill>
                            <a:srgbClr val="14212B"/>
                          </a:solidFill>
                          <a:latin typeface="Helvetica Neue"/>
                        </a:rPr>
                        <a:t>$75.8m</a:t>
                      </a:r>
                    </a:p>
                  </a:txBody>
                  <a:tcPr marL="95250" marR="95250" anchor="ctr">
                    <a:solidFill>
                      <a:srgbClr val="FFFFFF"/>
                    </a:solidFill>
                  </a:tcPr>
                </a:tc>
                <a:tc>
                  <a:txBody>
                    <a:bodyPr/>
                    <a:lstStyle/>
                    <a:p>
                      <a:r>
                        <a:rPr sz="1575" b="0">
                          <a:solidFill>
                            <a:srgbClr val="14212B"/>
                          </a:solidFill>
                          <a:latin typeface="Helvetica Neue"/>
                        </a:rPr>
                        <a:t>$1.83</a:t>
                      </a:r>
                    </a:p>
                  </a:txBody>
                  <a:tcPr marL="95250" marR="95250" anchor="ctr">
                    <a:solidFill>
                      <a:srgbClr val="FFFFFF"/>
                    </a:solidFill>
                  </a:tcPr>
                </a:tc>
                <a:tc>
                  <a:txBody>
                    <a:bodyPr/>
                    <a:lstStyle/>
                    <a:p>
                      <a:r>
                        <a:rPr sz="1575" b="0">
                          <a:solidFill>
                            <a:srgbClr val="14212B"/>
                          </a:solidFill>
                          <a:latin typeface="Helvetica Neue"/>
                        </a:rPr>
                        <a:t>$49.3m</a:t>
                      </a:r>
                    </a:p>
                  </a:txBody>
                  <a:tcPr marL="95250" marR="95250" anchor="ctr">
                    <a:solidFill>
                      <a:srgbClr val="FFFFFF"/>
                    </a:solidFill>
                  </a:tcPr>
                </a:tc>
              </a:tr>
              <a:tr h="371475">
                <a:tc>
                  <a:txBody>
                    <a:bodyPr/>
                    <a:lstStyle/>
                    <a:p>
                      <a:r>
                        <a:rPr sz="1575" b="0">
                          <a:solidFill>
                            <a:srgbClr val="14212B"/>
                          </a:solidFill>
                          <a:latin typeface="Helvetica Neue"/>
                        </a:rPr>
                        <a:t>+12 months / build</a:t>
                      </a:r>
                    </a:p>
                  </a:txBody>
                  <a:tcPr marL="95250" marR="95250" anchor="ctr">
                    <a:solidFill>
                      <a:srgbClr val="EDF5F4"/>
                    </a:solidFill>
                  </a:tcPr>
                </a:tc>
                <a:tc>
                  <a:txBody>
                    <a:bodyPr/>
                    <a:lstStyle/>
                    <a:p>
                      <a:r>
                        <a:rPr sz="1575" b="0">
                          <a:solidFill>
                            <a:srgbClr val="14212B"/>
                          </a:solidFill>
                          <a:latin typeface="Helvetica Neue"/>
                        </a:rPr>
                        <a:t>$523.1m</a:t>
                      </a:r>
                    </a:p>
                  </a:txBody>
                  <a:tcPr marL="95250" marR="95250" anchor="ctr">
                    <a:solidFill>
                      <a:srgbClr val="EDF5F4"/>
                    </a:solidFill>
                  </a:tcPr>
                </a:tc>
                <a:tc>
                  <a:txBody>
                    <a:bodyPr/>
                    <a:lstStyle/>
                    <a:p>
                      <a:r>
                        <a:rPr sz="1575" b="0">
                          <a:solidFill>
                            <a:srgbClr val="14212B"/>
                          </a:solidFill>
                          <a:latin typeface="Helvetica Neue"/>
                        </a:rPr>
                        <a:t>$55.5m</a:t>
                      </a:r>
                    </a:p>
                  </a:txBody>
                  <a:tcPr marL="95250" marR="95250" anchor="ctr">
                    <a:solidFill>
                      <a:srgbClr val="EDF5F4"/>
                    </a:solidFill>
                  </a:tcPr>
                </a:tc>
                <a:tc>
                  <a:txBody>
                    <a:bodyPr/>
                    <a:lstStyle/>
                    <a:p>
                      <a:r>
                        <a:rPr sz="1575" b="0">
                          <a:solidFill>
                            <a:srgbClr val="14212B"/>
                          </a:solidFill>
                          <a:latin typeface="Helvetica Neue"/>
                        </a:rPr>
                        <a:t>$2.51</a:t>
                      </a:r>
                    </a:p>
                  </a:txBody>
                  <a:tcPr marL="95250" marR="95250" anchor="ctr">
                    <a:solidFill>
                      <a:srgbClr val="EDF5F4"/>
                    </a:solidFill>
                  </a:tcPr>
                </a:tc>
                <a:tc>
                  <a:txBody>
                    <a:bodyPr/>
                    <a:lstStyle/>
                    <a:p>
                      <a:r>
                        <a:rPr sz="1575" b="0">
                          <a:solidFill>
                            <a:srgbClr val="14212B"/>
                          </a:solidFill>
                          <a:latin typeface="Helvetica Neue"/>
                        </a:rPr>
                        <a:t>$436.1m</a:t>
                      </a:r>
                    </a:p>
                  </a:txBody>
                  <a:tcPr marL="95250" marR="95250" anchor="ctr">
                    <a:solidFill>
                      <a:srgbClr val="EDF5F4"/>
                    </a:solidFill>
                  </a:tcPr>
                </a:tc>
              </a:tr>
              <a:tr h="371475">
                <a:tc>
                  <a:txBody>
                    <a:bodyPr/>
                    <a:lstStyle/>
                    <a:p>
                      <a:r>
                        <a:rPr sz="1575" b="0">
                          <a:solidFill>
                            <a:srgbClr val="14212B"/>
                          </a:solidFill>
                          <a:latin typeface="Helvetica Neue"/>
                        </a:rPr>
                        <a:t>+12 months / lease</a:t>
                      </a:r>
                    </a:p>
                  </a:txBody>
                  <a:tcPr marL="95250" marR="95250" anchor="ctr">
                    <a:solidFill>
                      <a:srgbClr val="FFFFFF"/>
                    </a:solidFill>
                  </a:tcPr>
                </a:tc>
                <a:tc>
                  <a:txBody>
                    <a:bodyPr/>
                    <a:lstStyle/>
                    <a:p>
                      <a:r>
                        <a:rPr sz="1575" b="0">
                          <a:solidFill>
                            <a:srgbClr val="14212B"/>
                          </a:solidFill>
                          <a:latin typeface="Helvetica Neue"/>
                        </a:rPr>
                        <a:t>$0.0m</a:t>
                      </a:r>
                    </a:p>
                  </a:txBody>
                  <a:tcPr marL="95250" marR="95250" anchor="ctr">
                    <a:solidFill>
                      <a:srgbClr val="FFFFFF"/>
                    </a:solidFill>
                  </a:tcPr>
                </a:tc>
                <a:tc>
                  <a:txBody>
                    <a:bodyPr/>
                    <a:lstStyle/>
                    <a:p>
                      <a:r>
                        <a:rPr sz="1575" b="0">
                          <a:solidFill>
                            <a:srgbClr val="14212B"/>
                          </a:solidFill>
                          <a:latin typeface="Helvetica Neue"/>
                        </a:rPr>
                        <a:t>$92.0m</a:t>
                      </a:r>
                    </a:p>
                  </a:txBody>
                  <a:tcPr marL="95250" marR="95250" anchor="ctr">
                    <a:solidFill>
                      <a:srgbClr val="FFFFFF"/>
                    </a:solidFill>
                  </a:tcPr>
                </a:tc>
                <a:tc>
                  <a:txBody>
                    <a:bodyPr/>
                    <a:lstStyle/>
                    <a:p>
                      <a:r>
                        <a:rPr sz="1575" b="0">
                          <a:solidFill>
                            <a:srgbClr val="14212B"/>
                          </a:solidFill>
                          <a:latin typeface="Helvetica Neue"/>
                        </a:rPr>
                        <a:t>$1.50</a:t>
                      </a:r>
                    </a:p>
                  </a:txBody>
                  <a:tcPr marL="95250" marR="95250" anchor="ctr">
                    <a:solidFill>
                      <a:srgbClr val="FFFFFF"/>
                    </a:solidFill>
                  </a:tcPr>
                </a:tc>
                <a:tc>
                  <a:txBody>
                    <a:bodyPr/>
                    <a:lstStyle/>
                    <a:p>
                      <a:r>
                        <a:rPr sz="1575" b="0">
                          <a:solidFill>
                            <a:srgbClr val="14212B"/>
                          </a:solidFill>
                          <a:latin typeface="Helvetica Neue"/>
                        </a:rPr>
                        <a:t>$0.0m</a:t>
                      </a:r>
                    </a:p>
                  </a:txBody>
                  <a:tcPr marL="95250" marR="95250" anchor="ctr">
                    <a:solidFill>
                      <a:srgbClr val="FFFFFF"/>
                    </a:solidFill>
                  </a:tcPr>
                </a:tc>
              </a:tr>
              <a:tr h="371475">
                <a:tc>
                  <a:txBody>
                    <a:bodyPr/>
                    <a:lstStyle/>
                    <a:p>
                      <a:r>
                        <a:rPr sz="1575" b="0">
                          <a:solidFill>
                            <a:srgbClr val="14212B"/>
                          </a:solidFill>
                          <a:latin typeface="Helvetica Neue"/>
                        </a:rPr>
                        <a:t>+12 months / hybrid</a:t>
                      </a:r>
                    </a:p>
                  </a:txBody>
                  <a:tcPr marL="95250" marR="95250" anchor="ctr">
                    <a:solidFill>
                      <a:srgbClr val="EDF5F4"/>
                    </a:solidFill>
                  </a:tcPr>
                </a:tc>
                <a:tc>
                  <a:txBody>
                    <a:bodyPr/>
                    <a:lstStyle/>
                    <a:p>
                      <a:r>
                        <a:rPr sz="1575" b="0">
                          <a:solidFill>
                            <a:srgbClr val="14212B"/>
                          </a:solidFill>
                          <a:latin typeface="Helvetica Neue"/>
                        </a:rPr>
                        <a:t>$666.1m</a:t>
                      </a:r>
                    </a:p>
                  </a:txBody>
                  <a:tcPr marL="95250" marR="95250" anchor="ctr">
                    <a:solidFill>
                      <a:srgbClr val="EDF5F4"/>
                    </a:solidFill>
                  </a:tcPr>
                </a:tc>
                <a:tc>
                  <a:txBody>
                    <a:bodyPr/>
                    <a:lstStyle/>
                    <a:p>
                      <a:r>
                        <a:rPr sz="1575" b="0">
                          <a:solidFill>
                            <a:srgbClr val="14212B"/>
                          </a:solidFill>
                          <a:latin typeface="Helvetica Neue"/>
                        </a:rPr>
                        <a:t>$75.8m</a:t>
                      </a:r>
                    </a:p>
                  </a:txBody>
                  <a:tcPr marL="95250" marR="95250" anchor="ctr">
                    <a:solidFill>
                      <a:srgbClr val="EDF5F4"/>
                    </a:solidFill>
                  </a:tcPr>
                </a:tc>
                <a:tc>
                  <a:txBody>
                    <a:bodyPr/>
                    <a:lstStyle/>
                    <a:p>
                      <a:r>
                        <a:rPr sz="1575" b="0">
                          <a:solidFill>
                            <a:srgbClr val="14212B"/>
                          </a:solidFill>
                          <a:latin typeface="Helvetica Neue"/>
                        </a:rPr>
                        <a:t>$1.88</a:t>
                      </a:r>
                    </a:p>
                  </a:txBody>
                  <a:tcPr marL="95250" marR="95250" anchor="ctr">
                    <a:solidFill>
                      <a:srgbClr val="EDF5F4"/>
                    </a:solidFill>
                  </a:tcPr>
                </a:tc>
                <a:tc>
                  <a:txBody>
                    <a:bodyPr/>
                    <a:lstStyle/>
                    <a:p>
                      <a:r>
                        <a:rPr sz="1575" b="0">
                          <a:solidFill>
                            <a:srgbClr val="14212B"/>
                          </a:solidFill>
                          <a:latin typeface="Helvetica Neue"/>
                        </a:rPr>
                        <a:t>$49.3m</a:t>
                      </a:r>
                    </a:p>
                  </a:txBody>
                  <a:tcPr marL="95250" marR="95250" anchor="ctr">
                    <a:solidFill>
                      <a:srgbClr val="EDF5F4"/>
                    </a:solidFill>
                  </a:tcPr>
                </a:tc>
              </a:tr>
              <a:tr h="371475">
                <a:tc>
                  <a:txBody>
                    <a:bodyPr/>
                    <a:lstStyle/>
                    <a:p>
                      <a:r>
                        <a:rPr sz="1575" b="0">
                          <a:solidFill>
                            <a:srgbClr val="14212B"/>
                          </a:solidFill>
                          <a:latin typeface="Helvetica Neue"/>
                        </a:rPr>
                        <a:t>Half use / build</a:t>
                      </a:r>
                    </a:p>
                  </a:txBody>
                  <a:tcPr marL="95250" marR="95250" anchor="ctr">
                    <a:solidFill>
                      <a:srgbClr val="FFFFFF"/>
                    </a:solidFill>
                  </a:tcPr>
                </a:tc>
                <a:tc>
                  <a:txBody>
                    <a:bodyPr/>
                    <a:lstStyle/>
                    <a:p>
                      <a:r>
                        <a:rPr sz="1575" b="0">
                          <a:solidFill>
                            <a:srgbClr val="14212B"/>
                          </a:solidFill>
                          <a:latin typeface="Helvetica Neue"/>
                        </a:rPr>
                        <a:t>$489.0m</a:t>
                      </a:r>
                    </a:p>
                  </a:txBody>
                  <a:tcPr marL="95250" marR="95250" anchor="ctr">
                    <a:solidFill>
                      <a:srgbClr val="FFFFFF"/>
                    </a:solidFill>
                  </a:tcPr>
                </a:tc>
                <a:tc>
                  <a:txBody>
                    <a:bodyPr/>
                    <a:lstStyle/>
                    <a:p>
                      <a:r>
                        <a:rPr sz="1575" b="0">
                          <a:solidFill>
                            <a:srgbClr val="14212B"/>
                          </a:solidFill>
                          <a:latin typeface="Helvetica Neue"/>
                        </a:rPr>
                        <a:t>$55.5m</a:t>
                      </a:r>
                    </a:p>
                  </a:txBody>
                  <a:tcPr marL="95250" marR="95250" anchor="ctr">
                    <a:solidFill>
                      <a:srgbClr val="FFFFFF"/>
                    </a:solidFill>
                  </a:tcPr>
                </a:tc>
                <a:tc>
                  <a:txBody>
                    <a:bodyPr/>
                    <a:lstStyle/>
                    <a:p>
                      <a:r>
                        <a:rPr sz="1575" b="0">
                          <a:solidFill>
                            <a:srgbClr val="14212B"/>
                          </a:solidFill>
                          <a:latin typeface="Helvetica Neue"/>
                        </a:rPr>
                        <a:t>$5.35</a:t>
                      </a:r>
                    </a:p>
                  </a:txBody>
                  <a:tcPr marL="95250" marR="95250" anchor="ctr">
                    <a:solidFill>
                      <a:srgbClr val="FFFFFF"/>
                    </a:solidFill>
                  </a:tcPr>
                </a:tc>
                <a:tc>
                  <a:txBody>
                    <a:bodyPr/>
                    <a:lstStyle/>
                    <a:p>
                      <a:r>
                        <a:rPr sz="1575" b="0">
                          <a:solidFill>
                            <a:srgbClr val="14212B"/>
                          </a:solidFill>
                          <a:latin typeface="Helvetica Neue"/>
                        </a:rPr>
                        <a:t>$420.2m</a:t>
                      </a:r>
                    </a:p>
                  </a:txBody>
                  <a:tcPr marL="95250" marR="95250" anchor="ctr">
                    <a:solidFill>
                      <a:srgbClr val="FFFFFF"/>
                    </a:solidFill>
                  </a:tcPr>
                </a:tc>
              </a:tr>
              <a:tr h="371475">
                <a:tc>
                  <a:txBody>
                    <a:bodyPr/>
                    <a:lstStyle/>
                    <a:p>
                      <a:r>
                        <a:rPr sz="1575" b="0">
                          <a:solidFill>
                            <a:srgbClr val="14212B"/>
                          </a:solidFill>
                          <a:latin typeface="Helvetica Neue"/>
                        </a:rPr>
                        <a:t>Half use / lease</a:t>
                      </a:r>
                    </a:p>
                  </a:txBody>
                  <a:tcPr marL="95250" marR="95250" anchor="ctr">
                    <a:solidFill>
                      <a:srgbClr val="EDF5F4"/>
                    </a:solidFill>
                  </a:tcPr>
                </a:tc>
                <a:tc>
                  <a:txBody>
                    <a:bodyPr/>
                    <a:lstStyle/>
                    <a:p>
                      <a:r>
                        <a:rPr sz="1575" b="0">
                          <a:solidFill>
                            <a:srgbClr val="14212B"/>
                          </a:solidFill>
                          <a:latin typeface="Helvetica Neue"/>
                        </a:rPr>
                        <a:t>$0.0m</a:t>
                      </a:r>
                    </a:p>
                  </a:txBody>
                  <a:tcPr marL="95250" marR="95250" anchor="ctr">
                    <a:solidFill>
                      <a:srgbClr val="EDF5F4"/>
                    </a:solidFill>
                  </a:tcPr>
                </a:tc>
                <a:tc>
                  <a:txBody>
                    <a:bodyPr/>
                    <a:lstStyle/>
                    <a:p>
                      <a:r>
                        <a:rPr sz="1575" b="0">
                          <a:solidFill>
                            <a:srgbClr val="14212B"/>
                          </a:solidFill>
                          <a:latin typeface="Helvetica Neue"/>
                        </a:rPr>
                        <a:t>$92.0m</a:t>
                      </a:r>
                    </a:p>
                  </a:txBody>
                  <a:tcPr marL="95250" marR="95250" anchor="ctr">
                    <a:solidFill>
                      <a:srgbClr val="EDF5F4"/>
                    </a:solidFill>
                  </a:tcPr>
                </a:tc>
                <a:tc>
                  <a:txBody>
                    <a:bodyPr/>
                    <a:lstStyle/>
                    <a:p>
                      <a:r>
                        <a:rPr sz="1575" b="0">
                          <a:solidFill>
                            <a:srgbClr val="14212B"/>
                          </a:solidFill>
                          <a:latin typeface="Helvetica Neue"/>
                        </a:rPr>
                        <a:t>$2.99</a:t>
                      </a:r>
                    </a:p>
                  </a:txBody>
                  <a:tcPr marL="95250" marR="95250" anchor="ctr">
                    <a:solidFill>
                      <a:srgbClr val="EDF5F4"/>
                    </a:solidFill>
                  </a:tcPr>
                </a:tc>
                <a:tc>
                  <a:txBody>
                    <a:bodyPr/>
                    <a:lstStyle/>
                    <a:p>
                      <a:r>
                        <a:rPr sz="1575" b="0">
                          <a:solidFill>
                            <a:srgbClr val="14212B"/>
                          </a:solidFill>
                          <a:latin typeface="Helvetica Neue"/>
                        </a:rPr>
                        <a:t>$0.0m</a:t>
                      </a:r>
                    </a:p>
                  </a:txBody>
                  <a:tcPr marL="95250" marR="95250" anchor="ctr">
                    <a:solidFill>
                      <a:srgbClr val="EDF5F4"/>
                    </a:solidFill>
                  </a:tcPr>
                </a:tc>
              </a:tr>
              <a:tr h="371475">
                <a:tc>
                  <a:txBody>
                    <a:bodyPr/>
                    <a:lstStyle/>
                    <a:p>
                      <a:r>
                        <a:rPr sz="1575" b="0">
                          <a:solidFill>
                            <a:srgbClr val="14212B"/>
                          </a:solidFill>
                          <a:latin typeface="Helvetica Neue"/>
                        </a:rPr>
                        <a:t>Half use / hybrid</a:t>
                      </a:r>
                    </a:p>
                  </a:txBody>
                  <a:tcPr marL="95250" marR="95250" anchor="ctr">
                    <a:solidFill>
                      <a:srgbClr val="FFFFFF"/>
                    </a:solidFill>
                  </a:tcPr>
                </a:tc>
                <a:tc>
                  <a:txBody>
                    <a:bodyPr/>
                    <a:lstStyle/>
                    <a:p>
                      <a:r>
                        <a:rPr sz="1575" b="0">
                          <a:solidFill>
                            <a:srgbClr val="14212B"/>
                          </a:solidFill>
                          <a:latin typeface="Helvetica Neue"/>
                        </a:rPr>
                        <a:t>$550.7m</a:t>
                      </a:r>
                    </a:p>
                  </a:txBody>
                  <a:tcPr marL="95250" marR="95250" anchor="ctr">
                    <a:solidFill>
                      <a:srgbClr val="FFFFFF"/>
                    </a:solidFill>
                  </a:tcPr>
                </a:tc>
                <a:tc>
                  <a:txBody>
                    <a:bodyPr/>
                    <a:lstStyle/>
                    <a:p>
                      <a:r>
                        <a:rPr sz="1575" b="0">
                          <a:solidFill>
                            <a:srgbClr val="14212B"/>
                          </a:solidFill>
                          <a:latin typeface="Helvetica Neue"/>
                        </a:rPr>
                        <a:t>$75.8m</a:t>
                      </a:r>
                    </a:p>
                  </a:txBody>
                  <a:tcPr marL="95250" marR="95250" anchor="ctr">
                    <a:solidFill>
                      <a:srgbClr val="FFFFFF"/>
                    </a:solidFill>
                  </a:tcPr>
                </a:tc>
                <a:tc>
                  <a:txBody>
                    <a:bodyPr/>
                    <a:lstStyle/>
                    <a:p>
                      <a:r>
                        <a:rPr sz="1575" b="0">
                          <a:solidFill>
                            <a:srgbClr val="14212B"/>
                          </a:solidFill>
                          <a:latin typeface="Helvetica Neue"/>
                        </a:rPr>
                        <a:t>$3.66</a:t>
                      </a:r>
                    </a:p>
                  </a:txBody>
                  <a:tcPr marL="95250" marR="95250" anchor="ctr">
                    <a:solidFill>
                      <a:srgbClr val="FFFFFF"/>
                    </a:solidFill>
                  </a:tcPr>
                </a:tc>
                <a:tc>
                  <a:txBody>
                    <a:bodyPr/>
                    <a:lstStyle/>
                    <a:p>
                      <a:r>
                        <a:rPr sz="1575" b="0">
                          <a:solidFill>
                            <a:srgbClr val="14212B"/>
                          </a:solidFill>
                          <a:latin typeface="Helvetica Neue"/>
                        </a:rPr>
                        <a:t>$49.3m</a:t>
                      </a:r>
                    </a:p>
                  </a:txBody>
                  <a:tcPr marL="95250" marR="95250" anchor="ctr">
                    <a:solidFill>
                      <a:srgbClr val="FFFFFF"/>
                    </a:solidFill>
                  </a:tcPr>
                </a:tc>
              </a:tr>
            </a:tbl>
          </a:graphicData>
        </a:graphic>
      </p:graphicFrame>
      <p:sp>
        <p:nvSpPr>
          <p:cNvPr id="5" name="TextBox 4"/>
          <p:cNvSpPr txBox="1"/>
          <p:nvPr/>
        </p:nvSpPr>
        <p:spPr>
          <a:xfrm>
            <a:off x="723900" y="5695950"/>
            <a:ext cx="10572750" cy="523875"/>
          </a:xfrm>
          <a:prstGeom prst="rect">
            <a:avLst/>
          </a:prstGeom>
          <a:noFill/>
        </p:spPr>
        <p:txBody>
          <a:bodyPr wrap="square" anchor="t" lIns="0" rIns="0" tIns="0" bIns="0">
            <a:noAutofit/>
          </a:bodyPr>
          <a:lstStyle/>
          <a:p>
            <a:r>
              <a:rPr sz="1650" b="0">
                <a:solidFill>
                  <a:srgbClr val="14212B"/>
                </a:solidFill>
                <a:latin typeface="Helvetica Neue"/>
              </a:rPr>
              <a:t>Base: 0.5 month delay. Half utilization: 32.5%. The app also retains +3 months.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Ownership and access rules protect members</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06</a:t>
            </a:r>
          </a:p>
        </p:txBody>
      </p:sp>
      <p:sp>
        <p:nvSpPr>
          <p:cNvPr id="4" name="TextBox 3"/>
          <p:cNvSpPr txBox="1"/>
          <p:nvPr/>
        </p:nvSpPr>
        <p:spPr>
          <a:xfrm>
            <a:off x="723900" y="2019300"/>
            <a:ext cx="2476500" cy="762000"/>
          </a:xfrm>
          <a:prstGeom prst="rect">
            <a:avLst/>
          </a:prstGeom>
          <a:noFill/>
        </p:spPr>
        <p:txBody>
          <a:bodyPr wrap="square" anchor="t" lIns="0" rIns="0" tIns="0" bIns="0">
            <a:noAutofit/>
          </a:bodyPr>
          <a:lstStyle/>
          <a:p>
            <a:r>
              <a:rPr sz="4650" b="1">
                <a:solidFill>
                  <a:srgbClr val="078E83"/>
                </a:solidFill>
                <a:latin typeface="Helvetica Neue"/>
              </a:rPr>
              <a:t>20%</a:t>
            </a:r>
          </a:p>
        </p:txBody>
      </p:sp>
      <p:sp>
        <p:nvSpPr>
          <p:cNvPr id="5" name="TextBox 4"/>
          <p:cNvSpPr txBox="1"/>
          <p:nvPr/>
        </p:nvSpPr>
        <p:spPr>
          <a:xfrm>
            <a:off x="723900" y="2847975"/>
            <a:ext cx="4619625" cy="914400"/>
          </a:xfrm>
          <a:prstGeom prst="rect">
            <a:avLst/>
          </a:prstGeom>
          <a:noFill/>
        </p:spPr>
        <p:txBody>
          <a:bodyPr wrap="square" anchor="t" lIns="0" rIns="0" tIns="0" bIns="0">
            <a:noAutofit/>
          </a:bodyPr>
          <a:lstStyle/>
          <a:p>
            <a:r>
              <a:rPr sz="2100" b="0">
                <a:solidFill>
                  <a:srgbClr val="14212B"/>
                </a:solidFill>
                <a:latin typeface="Helvetica Neue"/>
              </a:rPr>
              <a:t>reserved for smaller institutions and teaching</a:t>
            </a:r>
          </a:p>
        </p:txBody>
      </p:sp>
      <p:sp>
        <p:nvSpPr>
          <p:cNvPr id="6" name="TextBox 5"/>
          <p:cNvSpPr txBox="1"/>
          <p:nvPr/>
        </p:nvSpPr>
        <p:spPr>
          <a:xfrm>
            <a:off x="6457950" y="2019300"/>
            <a:ext cx="2857500" cy="762000"/>
          </a:xfrm>
          <a:prstGeom prst="rect">
            <a:avLst/>
          </a:prstGeom>
          <a:noFill/>
        </p:spPr>
        <p:txBody>
          <a:bodyPr wrap="square" anchor="t" lIns="0" rIns="0" tIns="0" bIns="0">
            <a:noAutofit/>
          </a:bodyPr>
          <a:lstStyle/>
          <a:p>
            <a:r>
              <a:rPr sz="4650" b="1">
                <a:solidFill>
                  <a:srgbClr val="078E83"/>
                </a:solidFill>
                <a:latin typeface="Helvetica Neue"/>
              </a:rPr>
              <a:t>35%</a:t>
            </a:r>
          </a:p>
        </p:txBody>
      </p:sp>
      <p:sp>
        <p:nvSpPr>
          <p:cNvPr id="7" name="TextBox 6"/>
          <p:cNvSpPr txBox="1"/>
          <p:nvPr/>
        </p:nvSpPr>
        <p:spPr>
          <a:xfrm>
            <a:off x="6457950" y="2847975"/>
            <a:ext cx="4619625" cy="914400"/>
          </a:xfrm>
          <a:prstGeom prst="rect">
            <a:avLst/>
          </a:prstGeom>
          <a:noFill/>
        </p:spPr>
        <p:txBody>
          <a:bodyPr wrap="square" anchor="t" lIns="0" rIns="0" tIns="0" bIns="0">
            <a:noAutofit/>
          </a:bodyPr>
          <a:lstStyle/>
          <a:p>
            <a:r>
              <a:rPr sz="2100" b="0">
                <a:solidFill>
                  <a:srgbClr val="14212B"/>
                </a:solidFill>
                <a:latin typeface="Helvetica Neue"/>
              </a:rPr>
              <a:t>cap on one member’s discretionary allocation</a:t>
            </a:r>
          </a:p>
        </p:txBody>
      </p:sp>
      <p:sp>
        <p:nvSpPr>
          <p:cNvPr id="8" name="TextBox 7"/>
          <p:cNvSpPr txBox="1"/>
          <p:nvPr/>
        </p:nvSpPr>
        <p:spPr>
          <a:xfrm>
            <a:off x="723900" y="4314825"/>
            <a:ext cx="10572750" cy="971550"/>
          </a:xfrm>
          <a:prstGeom prst="rect">
            <a:avLst/>
          </a:prstGeom>
          <a:noFill/>
        </p:spPr>
        <p:txBody>
          <a:bodyPr wrap="square" anchor="t" lIns="0" rIns="0" tIns="0" bIns="0">
            <a:noAutofit/>
          </a:bodyPr>
          <a:lstStyle/>
          <a:p>
            <a:r>
              <a:rPr sz="2175" b="0">
                <a:solidFill>
                  <a:srgbClr val="14212B"/>
                </a:solidFill>
                <a:latin typeface="Helvetica Neue"/>
              </a:rPr>
              <a:t>Proposed policy: fixed costs by reservation, variable costs by use, release unused capacity, publish allocations and allow appeals.</a:t>
            </a:r>
          </a:p>
        </p:txBody>
      </p:sp>
      <p:sp>
        <p:nvSpPr>
          <p:cNvPr id="9" name="TextBox 8"/>
          <p:cNvSpPr txBox="1"/>
          <p:nvPr/>
        </p:nvSpPr>
        <p:spPr>
          <a:xfrm>
            <a:off x="723900" y="5514975"/>
            <a:ext cx="10572750" cy="590550"/>
          </a:xfrm>
          <a:prstGeom prst="rect">
            <a:avLst/>
          </a:prstGeom>
          <a:noFill/>
        </p:spPr>
        <p:txBody>
          <a:bodyPr wrap="square" anchor="t" lIns="0" rIns="0" tIns="0" bIns="0">
            <a:noAutofit/>
          </a:bodyPr>
          <a:lstStyle/>
          <a:p>
            <a:r>
              <a:rPr sz="1725" b="0">
                <a:solidFill>
                  <a:srgbClr val="63717A"/>
                </a:solidFill>
                <a:latin typeface="Helvetica Neue"/>
              </a:rPr>
              <a:t>The consortium owns approved assets. Contract construction, power, specialist operations and overflow compute.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14212B"/>
                </a:solidFill>
                <a:latin typeface="Helvetica Neue"/>
              </a:rPr>
              <a:t>Three findings could reverse the recommendation</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63717A"/>
                </a:solidFill>
                <a:latin typeface="Helvetica Neue"/>
              </a:rPr>
              <a:t>07</a:t>
            </a:r>
          </a:p>
        </p:txBody>
      </p:sp>
      <p:sp>
        <p:nvSpPr>
          <p:cNvPr id="4" name="TextBox 3"/>
          <p:cNvSpPr txBox="1"/>
          <p:nvPr/>
        </p:nvSpPr>
        <p:spPr>
          <a:xfrm>
            <a:off x="723900" y="1924050"/>
            <a:ext cx="609600" cy="495300"/>
          </a:xfrm>
          <a:prstGeom prst="rect">
            <a:avLst/>
          </a:prstGeom>
          <a:noFill/>
        </p:spPr>
        <p:txBody>
          <a:bodyPr wrap="square" anchor="t" lIns="0" rIns="0" tIns="0" bIns="0">
            <a:noAutofit/>
          </a:bodyPr>
          <a:lstStyle/>
          <a:p>
            <a:r>
              <a:rPr sz="2550" b="1">
                <a:solidFill>
                  <a:srgbClr val="078E83"/>
                </a:solidFill>
                <a:latin typeface="Helvetica Neue"/>
              </a:rPr>
              <a:t>1</a:t>
            </a:r>
          </a:p>
        </p:txBody>
      </p:sp>
      <p:sp>
        <p:nvSpPr>
          <p:cNvPr id="5" name="TextBox 4"/>
          <p:cNvSpPr txBox="1"/>
          <p:nvPr/>
        </p:nvSpPr>
        <p:spPr>
          <a:xfrm>
            <a:off x="1495425" y="1933575"/>
            <a:ext cx="9810750" cy="409575"/>
          </a:xfrm>
          <a:prstGeom prst="rect">
            <a:avLst/>
          </a:prstGeom>
          <a:noFill/>
        </p:spPr>
        <p:txBody>
          <a:bodyPr wrap="square" anchor="t" lIns="0" rIns="0" tIns="0" bIns="0">
            <a:noAutofit/>
          </a:bodyPr>
          <a:lstStyle/>
          <a:p>
            <a:r>
              <a:rPr sz="2175" b="1">
                <a:solidFill>
                  <a:srgbClr val="14212B"/>
                </a:solidFill>
                <a:latin typeface="Helvetica Neue"/>
              </a:rPr>
              <a:t>Signed productive demand</a:t>
            </a:r>
          </a:p>
        </p:txBody>
      </p:sp>
      <p:sp>
        <p:nvSpPr>
          <p:cNvPr id="6" name="TextBox 5"/>
          <p:cNvSpPr txBox="1"/>
          <p:nvPr/>
        </p:nvSpPr>
        <p:spPr>
          <a:xfrm>
            <a:off x="1495425" y="2390775"/>
            <a:ext cx="9763125" cy="790575"/>
          </a:xfrm>
          <a:prstGeom prst="rect">
            <a:avLst/>
          </a:prstGeom>
          <a:noFill/>
        </p:spPr>
        <p:txBody>
          <a:bodyPr wrap="square" anchor="t" lIns="0" rIns="0" tIns="0" bIns="0">
            <a:noAutofit/>
          </a:bodyPr>
          <a:lstStyle/>
          <a:p>
            <a:r>
              <a:rPr sz="1800" b="0">
                <a:solidFill>
                  <a:srgbClr val="14212B"/>
                </a:solidFill>
                <a:latin typeface="Helvetica Neue"/>
              </a:rPr>
              <a:t>Contracted workloads and acceptable member prices could justify earlier ownership. Low use favors leasing or a smaller facility.</a:t>
            </a:r>
          </a:p>
        </p:txBody>
      </p:sp>
      <p:sp>
        <p:nvSpPr>
          <p:cNvPr id="7" name="TextBox 6"/>
          <p:cNvSpPr txBox="1"/>
          <p:nvPr/>
        </p:nvSpPr>
        <p:spPr>
          <a:xfrm>
            <a:off x="723900" y="3286125"/>
            <a:ext cx="609600" cy="495300"/>
          </a:xfrm>
          <a:prstGeom prst="rect">
            <a:avLst/>
          </a:prstGeom>
          <a:noFill/>
        </p:spPr>
        <p:txBody>
          <a:bodyPr wrap="square" anchor="t" lIns="0" rIns="0" tIns="0" bIns="0">
            <a:noAutofit/>
          </a:bodyPr>
          <a:lstStyle/>
          <a:p>
            <a:r>
              <a:rPr sz="2550" b="1">
                <a:solidFill>
                  <a:srgbClr val="078E83"/>
                </a:solidFill>
                <a:latin typeface="Helvetica Neue"/>
              </a:rPr>
              <a:t>2</a:t>
            </a:r>
          </a:p>
        </p:txBody>
      </p:sp>
      <p:sp>
        <p:nvSpPr>
          <p:cNvPr id="8" name="TextBox 7"/>
          <p:cNvSpPr txBox="1"/>
          <p:nvPr/>
        </p:nvSpPr>
        <p:spPr>
          <a:xfrm>
            <a:off x="1495425" y="3295650"/>
            <a:ext cx="9810750" cy="409575"/>
          </a:xfrm>
          <a:prstGeom prst="rect">
            <a:avLst/>
          </a:prstGeom>
          <a:noFill/>
        </p:spPr>
        <p:txBody>
          <a:bodyPr wrap="square" anchor="t" lIns="0" rIns="0" tIns="0" bIns="0">
            <a:noAutofit/>
          </a:bodyPr>
          <a:lstStyle/>
          <a:p>
            <a:r>
              <a:rPr sz="2175" b="1">
                <a:solidFill>
                  <a:srgbClr val="14212B"/>
                </a:solidFill>
                <a:latin typeface="Helvetica Neue"/>
              </a:rPr>
              <a:t>Binding grid terms</a:t>
            </a:r>
          </a:p>
        </p:txBody>
      </p:sp>
      <p:sp>
        <p:nvSpPr>
          <p:cNvPr id="9" name="TextBox 8"/>
          <p:cNvSpPr txBox="1"/>
          <p:nvPr/>
        </p:nvSpPr>
        <p:spPr>
          <a:xfrm>
            <a:off x="1495425" y="3752850"/>
            <a:ext cx="9763125" cy="790575"/>
          </a:xfrm>
          <a:prstGeom prst="rect">
            <a:avLst/>
          </a:prstGeom>
          <a:noFill/>
        </p:spPr>
        <p:txBody>
          <a:bodyPr wrap="square" anchor="t" lIns="0" rIns="0" tIns="0" bIns="0">
            <a:noAutofit/>
          </a:bodyPr>
          <a:lstStyle/>
          <a:p>
            <a:r>
              <a:rPr sz="1800" b="0">
                <a:solidFill>
                  <a:srgbClr val="14212B"/>
                </a:solidFill>
                <a:latin typeface="Helvetica Neue"/>
              </a:rPr>
              <a:t>Energization date, delivered power cost, upgrades and curtailment could change both the delivery path and country.</a:t>
            </a:r>
          </a:p>
        </p:txBody>
      </p:sp>
      <p:sp>
        <p:nvSpPr>
          <p:cNvPr id="10" name="TextBox 9"/>
          <p:cNvSpPr txBox="1"/>
          <p:nvPr/>
        </p:nvSpPr>
        <p:spPr>
          <a:xfrm>
            <a:off x="723900" y="4648200"/>
            <a:ext cx="609600" cy="495300"/>
          </a:xfrm>
          <a:prstGeom prst="rect">
            <a:avLst/>
          </a:prstGeom>
          <a:noFill/>
        </p:spPr>
        <p:txBody>
          <a:bodyPr wrap="square" anchor="t" lIns="0" rIns="0" tIns="0" bIns="0">
            <a:noAutofit/>
          </a:bodyPr>
          <a:lstStyle/>
          <a:p>
            <a:r>
              <a:rPr sz="2550" b="1">
                <a:solidFill>
                  <a:srgbClr val="078E83"/>
                </a:solidFill>
                <a:latin typeface="Helvetica Neue"/>
              </a:rPr>
              <a:t>3</a:t>
            </a:r>
          </a:p>
        </p:txBody>
      </p:sp>
      <p:sp>
        <p:nvSpPr>
          <p:cNvPr id="11" name="TextBox 10"/>
          <p:cNvSpPr txBox="1"/>
          <p:nvPr/>
        </p:nvSpPr>
        <p:spPr>
          <a:xfrm>
            <a:off x="1495425" y="4657725"/>
            <a:ext cx="9810750" cy="409575"/>
          </a:xfrm>
          <a:prstGeom prst="rect">
            <a:avLst/>
          </a:prstGeom>
          <a:noFill/>
        </p:spPr>
        <p:txBody>
          <a:bodyPr wrap="square" anchor="t" lIns="0" rIns="0" tIns="0" bIns="0">
            <a:noAutofit/>
          </a:bodyPr>
          <a:lstStyle/>
          <a:p>
            <a:r>
              <a:rPr sz="2175" b="1">
                <a:solidFill>
                  <a:srgbClr val="14212B"/>
                </a:solidFill>
                <a:latin typeface="Helvetica Neue"/>
              </a:rPr>
              <a:t>Tested and priced design</a:t>
            </a:r>
          </a:p>
        </p:txBody>
      </p:sp>
      <p:sp>
        <p:nvSpPr>
          <p:cNvPr id="12" name="TextBox 11"/>
          <p:cNvSpPr txBox="1"/>
          <p:nvPr/>
        </p:nvSpPr>
        <p:spPr>
          <a:xfrm>
            <a:off x="1495425" y="5114925"/>
            <a:ext cx="9763125" cy="790575"/>
          </a:xfrm>
          <a:prstGeom prst="rect">
            <a:avLst/>
          </a:prstGeom>
          <a:noFill/>
        </p:spPr>
        <p:txBody>
          <a:bodyPr wrap="square" anchor="t" lIns="0" rIns="0" tIns="0" bIns="0">
            <a:noAutofit/>
          </a:bodyPr>
          <a:lstStyle/>
          <a:p>
            <a:r>
              <a:rPr sz="1800" b="0">
                <a:solidFill>
                  <a:srgbClr val="14212B"/>
                </a:solidFill>
                <a:latin typeface="Helvetica Neue"/>
              </a:rPr>
              <a:t>Cooling, failure recovery, vendor offers and replacement terms could change the uptime, PUE and ownership economics.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C29"/>
        </a:solidFill>
        <a:effectLst/>
      </p:bgPr>
    </p:bg>
    <p:spTree>
      <p:nvGrpSpPr>
        <p:cNvPr id="1" name=""/>
        <p:cNvGrpSpPr/>
        <p:nvPr/>
      </p:nvGrpSpPr>
      <p:grpSpPr/>
      <p:sp>
        <p:nvSpPr>
          <p:cNvPr id="2" name="TextBox 1"/>
          <p:cNvSpPr txBox="1"/>
          <p:nvPr/>
        </p:nvSpPr>
        <p:spPr>
          <a:xfrm>
            <a:off x="685800" y="609600"/>
            <a:ext cx="10763250" cy="1028700"/>
          </a:xfrm>
          <a:prstGeom prst="rect">
            <a:avLst/>
          </a:prstGeom>
          <a:noFill/>
        </p:spPr>
        <p:txBody>
          <a:bodyPr wrap="square" anchor="t" lIns="0" rIns="0" tIns="0" bIns="0">
            <a:noAutofit/>
          </a:bodyPr>
          <a:lstStyle/>
          <a:p>
            <a:r>
              <a:rPr sz="3450" b="1">
                <a:solidFill>
                  <a:srgbClr val="FFFFFF"/>
                </a:solidFill>
                <a:latin typeface="Helvetica Neue"/>
              </a:rPr>
              <a:t>Committee decision</a:t>
            </a:r>
          </a:p>
        </p:txBody>
      </p:sp>
      <p:sp>
        <p:nvSpPr>
          <p:cNvPr id="3" name="TextBox 2"/>
          <p:cNvSpPr txBox="1"/>
          <p:nvPr/>
        </p:nvSpPr>
        <p:spPr>
          <a:xfrm>
            <a:off x="11049000" y="6315075"/>
            <a:ext cx="476250" cy="228600"/>
          </a:xfrm>
          <a:prstGeom prst="rect">
            <a:avLst/>
          </a:prstGeom>
          <a:noFill/>
        </p:spPr>
        <p:txBody>
          <a:bodyPr wrap="square" anchor="t" lIns="0" rIns="0" tIns="0" bIns="0">
            <a:noAutofit/>
          </a:bodyPr>
          <a:lstStyle/>
          <a:p>
            <a:r>
              <a:rPr sz="1050" b="0">
                <a:solidFill>
                  <a:srgbClr val="D9F4ED"/>
                </a:solidFill>
                <a:latin typeface="Helvetica Neue"/>
              </a:rPr>
              <a:t>08</a:t>
            </a:r>
          </a:p>
        </p:txBody>
      </p:sp>
      <p:sp>
        <p:nvSpPr>
          <p:cNvPr id="4" name="TextBox 3"/>
          <p:cNvSpPr txBox="1"/>
          <p:nvPr/>
        </p:nvSpPr>
        <p:spPr>
          <a:xfrm>
            <a:off x="685800" y="2143125"/>
            <a:ext cx="10668000" cy="1438275"/>
          </a:xfrm>
          <a:prstGeom prst="rect">
            <a:avLst/>
          </a:prstGeom>
          <a:noFill/>
        </p:spPr>
        <p:txBody>
          <a:bodyPr wrap="square" anchor="t" lIns="0" rIns="0" tIns="0" bIns="0">
            <a:noAutofit/>
          </a:bodyPr>
          <a:lstStyle/>
          <a:p>
            <a:r>
              <a:rPr sz="3525" b="1">
                <a:solidFill>
                  <a:srgbClr val="FFFFFF"/>
                </a:solidFill>
                <a:latin typeface="Helvetica Neue"/>
              </a:rPr>
              <a:t>Approve diligence and leased access.</a:t>
            </a:r>
          </a:p>
          <a:p>
            <a:r>
              <a:rPr sz="3525" b="1">
                <a:solidFill>
                  <a:srgbClr val="FFFFFF"/>
                </a:solidFill>
                <a:latin typeface="Helvetica Neue"/>
              </a:rPr>
              <a:t>Return with a priced hybrid option.</a:t>
            </a:r>
          </a:p>
        </p:txBody>
      </p:sp>
      <p:sp>
        <p:nvSpPr>
          <p:cNvPr id="5" name="TextBox 4"/>
          <p:cNvSpPr txBox="1"/>
          <p:nvPr/>
        </p:nvSpPr>
        <p:spPr>
          <a:xfrm>
            <a:off x="723900" y="4171950"/>
            <a:ext cx="10287000" cy="904875"/>
          </a:xfrm>
          <a:prstGeom prst="rect">
            <a:avLst/>
          </a:prstGeom>
          <a:noFill/>
        </p:spPr>
        <p:txBody>
          <a:bodyPr wrap="square" anchor="t" lIns="0" rIns="0" tIns="0" bIns="0">
            <a:noAutofit/>
          </a:bodyPr>
          <a:lstStyle/>
          <a:p>
            <a:r>
              <a:rPr sz="2175" b="0">
                <a:solidFill>
                  <a:srgbClr val="D9F4ED"/>
                </a:solidFill>
                <a:latin typeface="Helvetica Neue"/>
              </a:rPr>
              <a:t>Full construction and equipment capital remain conditional on demand, grid terms and resilience evidence.</a:t>
            </a:r>
          </a:p>
        </p:txBody>
      </p:sp>
      <p:sp>
        <p:nvSpPr>
          <p:cNvPr id="6" name="TextBox 5"/>
          <p:cNvSpPr txBox="1"/>
          <p:nvPr/>
        </p:nvSpPr>
        <p:spPr>
          <a:xfrm>
            <a:off x="723900" y="5724525"/>
            <a:ext cx="10429875" cy="457200"/>
          </a:xfrm>
          <a:prstGeom prst="rect">
            <a:avLst/>
          </a:prstGeom>
          <a:noFill/>
        </p:spPr>
        <p:txBody>
          <a:bodyPr wrap="square" anchor="t" lIns="0" rIns="0" tIns="0" bIns="0">
            <a:noAutofit/>
          </a:bodyPr>
          <a:lstStyle/>
          <a:p>
            <a:r>
              <a:rPr sz="1650" b="0">
                <a:solidFill>
                  <a:srgbClr val="C4D6DC"/>
                </a:solidFill>
                <a:latin typeface="Helvetica Neue"/>
              </a:rPr>
              <a:t>Questions: scale, member commitments, failure tolerance and risk allocation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