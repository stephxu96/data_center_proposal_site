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fa6fa009cb4d33" /><Relationship Type="http://schemas.openxmlformats.org/officeDocument/2006/relationships/extended-properties" Target="/docProps/app.xml" Id="Rb55e11d005854b13" /><Relationship Type="http://schemas.openxmlformats.org/officeDocument/2006/relationships/officeDocument" Target="/ppt/presentation.xml" Id="Ra2f70d0884d04a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5c392b292b4b2f"/>
  </p:sldMasterIdLst>
  <p:notesMasterIdLst>
    <p:notesMasterId xmlns:r="http://schemas.openxmlformats.org/officeDocument/2006/relationships" r:id="R3a122bb18897490b"/>
  </p:notesMasterIdLst>
  <p:sldIdLst>
    <p:sldId xmlns:r="http://schemas.openxmlformats.org/officeDocument/2006/relationships" id="256" r:id="R0b718905a0d245dd"/>
    <p:sldId xmlns:r="http://schemas.openxmlformats.org/officeDocument/2006/relationships" id="257" r:id="Ra05a894decf94112"/>
    <p:sldId xmlns:r="http://schemas.openxmlformats.org/officeDocument/2006/relationships" id="258" r:id="R22bb60c283b14ec0"/>
    <p:sldId xmlns:r="http://schemas.openxmlformats.org/officeDocument/2006/relationships" id="259" r:id="R6f1502c1a2404c8f"/>
    <p:sldId xmlns:r="http://schemas.openxmlformats.org/officeDocument/2006/relationships" id="260" r:id="R7fd096e2ce59410a"/>
    <p:sldId xmlns:r="http://schemas.openxmlformats.org/officeDocument/2006/relationships" id="261" r:id="R36620282568a4651"/>
    <p:sldId xmlns:r="http://schemas.openxmlformats.org/officeDocument/2006/relationships" id="262" r:id="R8c24ac73b2414597"/>
    <p:sldId xmlns:r="http://schemas.openxmlformats.org/officeDocument/2006/relationships" id="263" r:id="R4d1b809b8d2540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fb7af636b24195" /><Relationship Type="http://schemas.openxmlformats.org/officeDocument/2006/relationships/slideMaster" Target="/ppt/slideMasters/slideMaster1.xml" Id="Rc15c392b292b4b2f" /><Relationship Type="http://schemas.openxmlformats.org/officeDocument/2006/relationships/notesMaster" Target="/ppt/notesMasters/notesMaster1.xml" Id="R3a122bb18897490b" /><Relationship Type="http://schemas.openxmlformats.org/officeDocument/2006/relationships/presProps" Target="/ppt/presProps.xml" Id="Rd22b6e03e7e54af7" /><Relationship Type="http://schemas.openxmlformats.org/officeDocument/2006/relationships/tableStyles" Target="/ppt/tableStyles.xml" Id="Rfe54fd61f09c4301" /><Relationship Type="http://schemas.openxmlformats.org/officeDocument/2006/relationships/slide" Target="/ppt/slides/slide1.xml" Id="R0b718905a0d245dd" /><Relationship Type="http://schemas.openxmlformats.org/officeDocument/2006/relationships/slide" Target="/ppt/slides/slide2.xml" Id="Ra05a894decf94112" /><Relationship Type="http://schemas.openxmlformats.org/officeDocument/2006/relationships/slide" Target="/ppt/slides/slide3.xml" Id="R22bb60c283b14ec0" /><Relationship Type="http://schemas.openxmlformats.org/officeDocument/2006/relationships/slide" Target="/ppt/slides/slide4.xml" Id="R6f1502c1a2404c8f" /><Relationship Type="http://schemas.openxmlformats.org/officeDocument/2006/relationships/slide" Target="/ppt/slides/slide5.xml" Id="R7fd096e2ce59410a" /><Relationship Type="http://schemas.openxmlformats.org/officeDocument/2006/relationships/slide" Target="/ppt/slides/slide6.xml" Id="R36620282568a4651" /><Relationship Type="http://schemas.openxmlformats.org/officeDocument/2006/relationships/slide" Target="/ppt/slides/slide7.xml" Id="R8c24ac73b2414597" /><Relationship Type="http://schemas.openxmlformats.org/officeDocument/2006/relationships/slide" Target="/ppt/slides/slide8.xml" Id="R4d1b809b8d2540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18ab9c618b47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b16a7931d84401" /><Relationship Type="http://schemas.openxmlformats.org/officeDocument/2006/relationships/notesMaster" Target="/ppt/notesMasters/notesMaster1.xml" Id="R52b32059e6d143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fefc1077a04466" /><Relationship Type="http://schemas.openxmlformats.org/officeDocument/2006/relationships/notesMaster" Target="/ppt/notesMasters/notesMaster1.xml" Id="R6977d610122f4a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9c332aa2014318" /><Relationship Type="http://schemas.openxmlformats.org/officeDocument/2006/relationships/notesMaster" Target="/ppt/notesMasters/notesMaster1.xml" Id="R84c852fb0b0d42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83cac83c3f4779" /><Relationship Type="http://schemas.openxmlformats.org/officeDocument/2006/relationships/notesMaster" Target="/ppt/notesMasters/notesMaster1.xml" Id="R09a6ab61cbde4c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2835a3b2334ccc" /><Relationship Type="http://schemas.openxmlformats.org/officeDocument/2006/relationships/notesMaster" Target="/ppt/notesMasters/notesMaster1.xml" Id="R2b68b9ae390c49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9d742195bc4f2f" /><Relationship Type="http://schemas.openxmlformats.org/officeDocument/2006/relationships/notesMaster" Target="/ppt/notesMasters/notesMaster1.xml" Id="R9be84861b0524c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df1233753644ec" /><Relationship Type="http://schemas.openxmlformats.org/officeDocument/2006/relationships/notesMaster" Target="/ppt/notesMasters/notesMaster1.xml" Id="R6da2a09f4d4c4d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580a0a59d146f4" /><Relationship Type="http://schemas.openxmlformats.org/officeDocument/2006/relationships/notesMaster" Target="/ppt/notesMasters/notesMaster1.xml" Id="R888757b4926d4b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project Phase 1 design and the customer decision explorer. This is a reference proposal, not an approved construction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internal Phase 1 design specification, sections 7.6 and 7.7; decision memo. The recommendation is conditional.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internal Phase 1 site selection, section 7.4. Texas 3.60, Québec 3.05, Helsinki 3.05. Demand proximity is 25 percent of the weighted rubric.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Calculation: 20 MW IT x 1.25 PUE = 25 MW facility. 25 MW x 8,760 hours / 1,000 = 219 GWh per year. Source: internal Phase 1 design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Calculation: 25 MW facility x 48 hours = 1,200 MWh. Backup fuel quantity, refuelling, permits and actual topology require site-specific engineering.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site includes editable example inputs to demonstrate sensitivity. No vendor quote or financing commitment is represented in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internal Phase 1 section 7.6 and the decision memo. The fifth line combines member demand and vendor pricing, both needed before a capital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test Site URL at the time of this presentation. Login is temporarily disabled for demo viewing; existing auth work is retained for the final access phase.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4b2eccc4694a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4a82bd520f4c28" /><Relationship Type="http://schemas.openxmlformats.org/officeDocument/2006/relationships/slideLayout" Target="/ppt/slideLayouts/slideLayout1.xml" Id="R0cdebf8e24404d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debf8e24404d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682735d554bab" /><Relationship Type="http://schemas.openxmlformats.org/officeDocument/2006/relationships/notesSlide" Target="/ppt/notesSlides/notesSlide1.xml" Id="R91c155ba23414c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704dd11984b71" /><Relationship Type="http://schemas.openxmlformats.org/officeDocument/2006/relationships/notesSlide" Target="/ppt/notesSlides/notesSlide2.xml" Id="R9beb1c2faa9e42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945fe40e94c80" /><Relationship Type="http://schemas.openxmlformats.org/officeDocument/2006/relationships/chart" Target="/ppt/slides/charts/chart1.xml" Id="R381eb54cb8c24476" /><Relationship Type="http://schemas.openxmlformats.org/officeDocument/2006/relationships/notesSlide" Target="/ppt/notesSlides/notesSlide3.xml" Id="R9014687259d84d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d9f3e489e46b8" /><Relationship Type="http://schemas.openxmlformats.org/officeDocument/2006/relationships/notesSlide" Target="/ppt/notesSlides/notesSlide4.xml" Id="R2e802309b91348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7c1158bf14029" /><Relationship Type="http://schemas.openxmlformats.org/officeDocument/2006/relationships/notesSlide" Target="/ppt/notesSlides/notesSlide5.xml" Id="Rd34ee6d1062f49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13bf1dcac4ac4" /><Relationship Type="http://schemas.openxmlformats.org/officeDocument/2006/relationships/notesSlide" Target="/ppt/notesSlides/notesSlide6.xml" Id="Rceb6bf9e238445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e1c1984824346" /><Relationship Type="http://schemas.openxmlformats.org/officeDocument/2006/relationships/notesSlide" Target="/ppt/notesSlides/notesSlide7.xml" Id="R6e764814959b45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223635bf74f65" /><Relationship Type="http://schemas.openxmlformats.org/officeDocument/2006/relationships/notesSlide" Target="/ppt/notesSlides/notesSlide8.xml" Id="R72a009d10d30467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Weighted score</c:v>
          </c:tx>
          <c:spPr>
            <a:solidFill xmlns:a="http://schemas.openxmlformats.org/drawingml/2006/main">
              <a:srgbClr val="078E83"/>
            </a:solidFill>
          </c:spPr>
          <c:cat>
            <c:strRef>
              <c:f>'Chart Data'!$A$2:$A$4</c:f>
              <c:strCache>
                <c:ptCount val="3"/>
                <c:pt idx="0">
                  <c:v>Texas</c:v>
                </c:pt>
                <c:pt idx="1">
                  <c:v>Québec</c:v>
                </c:pt>
                <c:pt idx="2">
                  <c:v>Helsinki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3.6</c:v>
                </c:pt>
                <c:pt idx="1">
                  <c:v>3.05</c:v>
                </c:pt>
                <c:pt idx="2">
                  <c:v>3.05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16404-2FA5-48EC-8730-62393FAF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F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9F4ED"/>
                </a:solidFill>
                <a:latin typeface="Helvetica Neue"/>
                <a:ea typeface="Helvetica Neue"/>
                <a:cs typeface="Helvetica Neue"/>
              </a:rPr>
              <a:t>NORTHSTAR 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3D99A-4DBB-463D-B40D-4FA781F1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Shared compute for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university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293D9-FEB6-4673-88DD-F6FFDF1A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4D6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4D6DC"/>
                </a:solidFill>
                <a:latin typeface="Helvetica Neue"/>
                <a:ea typeface="Helvetica Neue"/>
                <a:cs typeface="Helvetica Neue"/>
              </a:rPr>
              <a:t>Texas reference proposal  |  Customer discussion  | 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62349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C3791-E517-4A71-A672-6949BF78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NORTHSTAR 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A3984-6C80-4141-972C-0CC15570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17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4D545-7663-4F6C-816C-DDDFAE63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Decision requested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081A5-9935-40B1-BD72-54EF0EB8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06680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Advance Texas diligence.</a:t>
            </a:r>
          </a:p>
          <a:p xmlns:a="http://schemas.openxmlformats.org/drawingml/2006/main">
            <a:pPr>
              <a:defRPr sz="3600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Hold full capital approval.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D49CB-0081-4346-9D5D-314F24A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The next gate is a written utility schedule and cost, member demand commitments, a site-specific resilience design, and priced vendor offers.</a:t>
            </a:r>
          </a:p>
        </p:txBody>
      </p:sp>
    </p:spTree>
    <p:extLst>
      <p:ext uri="{BB962C8B-B14F-4D97-AF65-F5344CB8AC3E}">
        <p14:creationId xmlns:p14="http://schemas.microsoft.com/office/powerpoint/2010/main" val="19683356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83E65-34B5-4109-B1A0-3DE659B8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NORTHSTAR 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AB250-2A2C-4AB7-8313-B8561056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17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B276D-1AE5-426C-8604-41AFAD70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Texas leads the location assessment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62000" y="2047875"/>
          <a:ext xmlns:a="http://schemas.openxmlformats.org/drawingml/2006/main" cx="7429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1eb54cb8c2447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698E7-72C7-4459-9C03-1CB00649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241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3.60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9AC4C-01A9-42B4-8D0B-6D2D634D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337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Texas weighted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5B304-750B-475C-B942-5C1BCBB9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86175"/>
            <a:ext cx="2619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3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3717A"/>
                </a:solidFill>
                <a:latin typeface="Helvetica Neue"/>
                <a:ea typeface="Helvetica Neue"/>
                <a:cs typeface="Helvetica Neue"/>
              </a:rPr>
              <a:t>Demand proximity carries the largest weight in the rubric.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04F4A-EF64-432A-8585-E405FEB1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17A"/>
                </a:solidFill>
                <a:latin typeface="Helvetica Neue"/>
                <a:ea typeface="Helvetica Neue"/>
                <a:cs typeface="Helvetica Neue"/>
              </a:rPr>
              <a:t>Scores are planning judgments on a five-point scale.</a:t>
            </a:r>
          </a:p>
        </p:txBody>
      </p:sp>
    </p:spTree>
    <p:extLst>
      <p:ext uri="{BB962C8B-B14F-4D97-AF65-F5344CB8AC3E}">
        <p14:creationId xmlns:p14="http://schemas.microsoft.com/office/powerpoint/2010/main" val="2075289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D2863-ED8C-4709-AE16-EFD7688F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NORTHSTAR 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1BF20-F768-4775-8AEB-E7E4DFCF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17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E56CA-4853-4C20-A9FE-FF9B0520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Reference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BFF47-0B55-4AB6-9A60-04B7ED4C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20 MW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24B9D-2B16-41D4-AE61-6FCD0A10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IT demand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FCE8E-063D-4B25-89E7-3EDD88D8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25 MW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B0DBF-F093-4B35-B4F3-F8E9808D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670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Total facility demand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FDE68-B266-4C77-BFBE-2AFDC642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219 GWh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7C7AC-0D9A-46C9-AF4F-FF3587E7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Annual energy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B7A00-114C-43A6-95A2-E4D51CBA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PUE 1.25 is the planning assumption. Cooling uses a closed-loop, non-evaporative design.</a:t>
            </a:r>
          </a:p>
        </p:txBody>
      </p:sp>
    </p:spTree>
    <p:extLst>
      <p:ext uri="{BB962C8B-B14F-4D97-AF65-F5344CB8AC3E}">
        <p14:creationId xmlns:p14="http://schemas.microsoft.com/office/powerpoint/2010/main" val="1942059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18734-EA34-4E46-B494-FFB6E3BD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NORTHSTAR 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62D9A-8321-4BE8-BCAE-C258EF1A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17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10327-8075-49C1-A718-9892D6DE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Power continuity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8E122-A0D0-4686-AD81-AC2DD489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Fault isolation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CB3FC-BC82-4F67-9E7A-B786EB07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00037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Protection separates the failed component.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AD7B9-9A47-4CD9-8A02-C82ED015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02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UPS transition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9D52D-34DE-4181-B4F8-DA8A2851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28925"/>
            <a:ext cx="300037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Critical load stays powered while alternate supply starts.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9C7F6-887B-405E-9145-19C0B6F8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02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Backup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BBE71-00FC-4D0B-8BD9-6CB51A18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28925"/>
            <a:ext cx="300037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Generation sustains load, with shedding if capacity tightens.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E356E-E982-403A-8E1C-1C42E8FC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A 48-hour grid outage at full facility load represents 1,200 MWh of delivered energy.</a:t>
            </a:r>
          </a:p>
        </p:txBody>
      </p:sp>
    </p:spTree>
    <p:extLst>
      <p:ext uri="{BB962C8B-B14F-4D97-AF65-F5344CB8AC3E}">
        <p14:creationId xmlns:p14="http://schemas.microsoft.com/office/powerpoint/2010/main" val="19494737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D9A3D-7BD9-4308-BFD4-F1569168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NORTHSTAR 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0505C-6259-49BE-85B9-6C1C9FF8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17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20837-0D56-4AAE-950F-1467131F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Investment structures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BD5B6-FBF6-42AC-9E54-E049B757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Build and own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42E80-7A67-4E3B-9014-D936DD2F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0037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More control over the facility and capacity. Highest initial capital exposure.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19EA6-5555-444F-B0F2-74D8660F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717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Lease capacity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1E308-FBF3-4820-AD2F-9738DF0A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300037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Lower initial capital commitment. Vendor terms and long-run service cost matter most.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FB806-E059-4DA4-A3E0-91DA7EB1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717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Phased hybrid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38A7F-9AC2-4968-AE19-A7A6CB98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300037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Stages ownership while leasing capacity. Limits early commitment but adds coordination.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4DCC3-0142-436E-B989-C51863ED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057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The live explorer applies the same power price, utilization, PUE and grid-delay inputs to all three paths.</a:t>
            </a:r>
          </a:p>
        </p:txBody>
      </p:sp>
    </p:spTree>
    <p:extLst>
      <p:ext uri="{BB962C8B-B14F-4D97-AF65-F5344CB8AC3E}">
        <p14:creationId xmlns:p14="http://schemas.microsoft.com/office/powerpoint/2010/main" val="2036126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D7CDB-AE4D-46BA-ABCA-A763D277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NORTHSTAR 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0C1D1-6932-45E1-B48C-55242B10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17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E51B2-828C-49A5-97B8-261E0278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Conditions for the next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36786-097A-486F-9384-0A37913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91D64-5BA8-4556-89B8-DCB05DC6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62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Written utility energization schedule and connection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74A97-88F5-4662-86FA-79AEBE8E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21304-46D5-4FB8-87DD-F3163435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76525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Applicable large-load and curtailment terms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1B4FD-0BF0-4407-B09D-BE5918D2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90FF9-4990-462B-8683-6B0F41B2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90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Site-specific resilience and backup-power study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06D29-B389-4855-93EB-BCE80B8E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C8F0A-9B91-44D3-838A-13448D71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05275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Closed-loop cooling through design and permitting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FEC21-9D73-44EA-BD52-62D9B53F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482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78E8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6150D-B89A-418E-906D-7CE0F805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196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Member demand commitments and priced vendor offers</a:t>
            </a:r>
          </a:p>
        </p:txBody>
      </p:sp>
    </p:spTree>
    <p:extLst>
      <p:ext uri="{BB962C8B-B14F-4D97-AF65-F5344CB8AC3E}">
        <p14:creationId xmlns:p14="http://schemas.microsoft.com/office/powerpoint/2010/main" val="19944601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AC429-A8FF-47DA-A82B-EFC6D645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F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9F4ED"/>
                </a:solidFill>
                <a:latin typeface="Helvetica Neue"/>
                <a:ea typeface="Helvetica Neue"/>
                <a:cs typeface="Helvetica Neue"/>
              </a:rPr>
              <a:t>NORTHSTAR 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97C3D-50B7-4D30-9E71-C44AE82A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F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9F4E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51EF4-1148-4A20-A09A-6C396089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Live decision explorer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CE910-0CB8-4B05-BD0B-3741D97E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Compare sites. Walk the design.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Change the assumptions.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236AD-AFB0-4B1A-9ADB-E94B786F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57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F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9F4ED"/>
                </a:solidFill>
                <a:latin typeface="Helvetica Neue"/>
                <a:ea typeface="Helvetica Neue"/>
                <a:cs typeface="Helvetica Neue"/>
              </a:rPr>
              <a:t>global-datacenter-design-explorer-test.stephxu700296.chatgpt.site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1D9FD-ED08-4F92-8D5D-8646AED7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4D6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C4D6DC"/>
                </a:solidFill>
                <a:latin typeface="Helvetica Neue"/>
                <a:ea typeface="Helvetica Neue"/>
                <a:cs typeface="Helvetica Neue"/>
              </a:rPr>
              <a:t>Next decision: fund diligence and return with site-specific evidence.</a:t>
            </a:r>
          </a:p>
        </p:txBody>
      </p:sp>
    </p:spTree>
    <p:extLst>
      <p:ext uri="{BB962C8B-B14F-4D97-AF65-F5344CB8AC3E}">
        <p14:creationId xmlns:p14="http://schemas.microsoft.com/office/powerpoint/2010/main" val="1456053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2026-10-06T19:47:47.5610000Z</dcterms:created>
  <dcterms:modified xsi:type="dcterms:W3CDTF">2026-10-06T19:47:47.5610000Z</dcterms:modified>
</coreProperties>
</file>